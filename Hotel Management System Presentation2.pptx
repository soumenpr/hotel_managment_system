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4.jpg" ContentType="image/jpg"/>
  <Override PartName="/ppt/media/image6.jpg" ContentType="image/jpg"/>
  <Override PartName="/ppt/media/image8.jpg" ContentType="image/jpg"/>
  <Override PartName="/ppt/media/image13.jpg" ContentType="image/jpg"/>
  <Override PartName="/ppt/media/image16.jpg" ContentType="image/jpg"/>
  <Override PartName="/ppt/media/image17.jpg" ContentType="image/jpg"/>
  <Override PartName="/ppt/media/image19.jpg" ContentType="image/jpg"/>
  <Override PartName="/ppt/notesSlides/notesSlide1.xml" ContentType="application/vnd.openxmlformats-officedocument.presentationml.notesSlide+xml"/>
  <Override PartName="/ppt/media/image23.jpg" ContentType="image/jpg"/>
  <Override PartName="/ppt/media/image33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79" r:id="rId3"/>
    <p:sldId id="258" r:id="rId4"/>
    <p:sldId id="259" r:id="rId5"/>
    <p:sldId id="260" r:id="rId6"/>
    <p:sldId id="261" r:id="rId7"/>
    <p:sldId id="262" r:id="rId8"/>
    <p:sldId id="263" r:id="rId9"/>
    <p:sldId id="280" r:id="rId10"/>
    <p:sldId id="264" r:id="rId11"/>
    <p:sldId id="265" r:id="rId12"/>
    <p:sldId id="269" r:id="rId13"/>
    <p:sldId id="270" r:id="rId14"/>
    <p:sldId id="268" r:id="rId15"/>
    <p:sldId id="278" r:id="rId16"/>
    <p:sldId id="272" r:id="rId17"/>
    <p:sldId id="276" r:id="rId18"/>
    <p:sldId id="273" r:id="rId19"/>
    <p:sldId id="277" r:id="rId20"/>
    <p:sldId id="274" r:id="rId21"/>
    <p:sldId id="275" r:id="rId22"/>
    <p:sldId id="271" r:id="rId2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>
      <p:cViewPr varScale="1">
        <p:scale>
          <a:sx n="73" d="100"/>
          <a:sy n="73" d="100"/>
        </p:scale>
        <p:origin x="1096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548D6B-D942-4165-BD5A-D6EB5985DA31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632DD7-225F-4976-896D-BDD9C6ECD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983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32DD7-225F-4976-896D-BDD9C6ECD39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245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9199" y="338624"/>
            <a:ext cx="8125600" cy="477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87199" y="1677274"/>
            <a:ext cx="4485640" cy="147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2D29A02-26D6-DFC5-E0E4-6ED19BFF480F}"/>
              </a:ext>
            </a:extLst>
          </p:cNvPr>
          <p:cNvSpPr txBox="1"/>
          <p:nvPr/>
        </p:nvSpPr>
        <p:spPr>
          <a:xfrm>
            <a:off x="2590800" y="438150"/>
            <a:ext cx="5562600" cy="110799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0"/>
                  <a:lumOff val="100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txBody>
          <a:bodyPr wrap="square" rtlCol="0">
            <a:spAutoFit/>
          </a:bodyPr>
          <a:lstStyle/>
          <a:p>
            <a:r>
              <a:rPr lang="en-IN" sz="2400" dirty="0"/>
              <a:t>A MINOR PROJECT PRESENTATION</a:t>
            </a:r>
          </a:p>
          <a:p>
            <a:r>
              <a:rPr lang="en-IN" dirty="0"/>
              <a:t>                        ON </a:t>
            </a:r>
          </a:p>
          <a:p>
            <a:r>
              <a:rPr lang="en-IN" sz="2400" dirty="0"/>
              <a:t>HOTEL ADMINISTRATE SYSTEM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753179-C222-4441-F4ED-C63E2DA8C813}"/>
              </a:ext>
            </a:extLst>
          </p:cNvPr>
          <p:cNvSpPr txBox="1"/>
          <p:nvPr/>
        </p:nvSpPr>
        <p:spPr>
          <a:xfrm>
            <a:off x="304800" y="2999911"/>
            <a:ext cx="3429000" cy="1477328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en-IN" dirty="0"/>
              <a:t>Submitted By:</a:t>
            </a:r>
          </a:p>
          <a:p>
            <a:r>
              <a:rPr lang="en-IN" dirty="0"/>
              <a:t>                     Soumen Pradhan </a:t>
            </a:r>
          </a:p>
          <a:p>
            <a:r>
              <a:rPr lang="en-IN" dirty="0"/>
              <a:t>                     Suman Bar</a:t>
            </a:r>
          </a:p>
          <a:p>
            <a:r>
              <a:rPr lang="en-IN" dirty="0"/>
              <a:t>                     Amit Ranjan Paria</a:t>
            </a:r>
          </a:p>
          <a:p>
            <a:r>
              <a:rPr lang="en-IN" dirty="0"/>
              <a:t>                     Avijit Bera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F063AC-9B9F-E9A7-52F5-36CDD43DCF9C}"/>
              </a:ext>
            </a:extLst>
          </p:cNvPr>
          <p:cNvSpPr txBox="1"/>
          <p:nvPr/>
        </p:nvSpPr>
        <p:spPr>
          <a:xfrm>
            <a:off x="4419600" y="2999911"/>
            <a:ext cx="4419600" cy="1477328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en-IN" dirty="0"/>
              <a:t>Guide By:</a:t>
            </a:r>
          </a:p>
          <a:p>
            <a:r>
              <a:rPr lang="en-IN" dirty="0"/>
              <a:t>        Mrs. </a:t>
            </a:r>
            <a:r>
              <a:rPr lang="en-IN" dirty="0" err="1"/>
              <a:t>Paulami</a:t>
            </a:r>
            <a:r>
              <a:rPr lang="en-IN" dirty="0"/>
              <a:t> Basu Ray</a:t>
            </a:r>
          </a:p>
          <a:p>
            <a:r>
              <a:rPr lang="en-IN" dirty="0"/>
              <a:t>         Department of Computer Science &amp;</a:t>
            </a:r>
          </a:p>
          <a:p>
            <a:r>
              <a:rPr lang="en-IN" dirty="0"/>
              <a:t>         Application</a:t>
            </a:r>
          </a:p>
          <a:p>
            <a:r>
              <a:rPr lang="en-IN" dirty="0"/>
              <a:t>         Prabhat Kumar College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17CB53-4157-BC92-EF99-6854990FC9B5}"/>
              </a:ext>
            </a:extLst>
          </p:cNvPr>
          <p:cNvSpPr txBox="1"/>
          <p:nvPr/>
        </p:nvSpPr>
        <p:spPr>
          <a:xfrm>
            <a:off x="762000" y="666750"/>
            <a:ext cx="7848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       </a:t>
            </a:r>
            <a:r>
              <a:rPr lang="en-IN" sz="2400" dirty="0"/>
              <a:t>To Whom It May Concern</a:t>
            </a:r>
          </a:p>
          <a:p>
            <a:endParaRPr lang="en-IN" sz="2400" dirty="0"/>
          </a:p>
          <a:p>
            <a:pPr algn="just"/>
            <a:r>
              <a:rPr lang="en-IN" dirty="0"/>
              <a:t>This is to certify that Mrs. </a:t>
            </a:r>
            <a:r>
              <a:rPr lang="en-IN" dirty="0" err="1"/>
              <a:t>Paulami</a:t>
            </a:r>
            <a:r>
              <a:rPr lang="en-IN" dirty="0"/>
              <a:t> Basu Ray from Department of Computer Science and Application is help us to complete this project.</a:t>
            </a:r>
          </a:p>
          <a:p>
            <a:pPr algn="just"/>
            <a:r>
              <a:rPr lang="en-IN" dirty="0"/>
              <a:t>We also like to thank her for helping us in what ever way possible through their expert advices and encouraging us to go even deeper in the project.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0955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64" y="-133539"/>
            <a:ext cx="9144087" cy="5143689"/>
            <a:chOff x="0" y="0"/>
            <a:chExt cx="9144087" cy="514368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181153" y="3903675"/>
              <a:ext cx="2962910" cy="988060"/>
            </a:xfrm>
            <a:custGeom>
              <a:avLst/>
              <a:gdLst/>
              <a:ahLst/>
              <a:cxnLst/>
              <a:rect l="l" t="t" r="r" b="b"/>
              <a:pathLst>
                <a:path w="2962909" h="988060">
                  <a:moveTo>
                    <a:pt x="989101" y="0"/>
                  </a:moveTo>
                  <a:lnTo>
                    <a:pt x="0" y="987894"/>
                  </a:lnTo>
                  <a:lnTo>
                    <a:pt x="989101" y="987894"/>
                  </a:lnTo>
                  <a:lnTo>
                    <a:pt x="989101" y="0"/>
                  </a:lnTo>
                  <a:close/>
                </a:path>
                <a:path w="2962909" h="988060">
                  <a:moveTo>
                    <a:pt x="2962833" y="987894"/>
                  </a:moveTo>
                  <a:lnTo>
                    <a:pt x="1973732" y="0"/>
                  </a:lnTo>
                  <a:lnTo>
                    <a:pt x="1973732" y="987894"/>
                  </a:lnTo>
                  <a:lnTo>
                    <a:pt x="2962833" y="98789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70273" y="3903669"/>
              <a:ext cx="989330" cy="988060"/>
            </a:xfrm>
            <a:custGeom>
              <a:avLst/>
              <a:gdLst/>
              <a:ahLst/>
              <a:cxnLst/>
              <a:rect l="l" t="t" r="r" b="b"/>
              <a:pathLst>
                <a:path w="989329" h="988060">
                  <a:moveTo>
                    <a:pt x="989099" y="987899"/>
                  </a:moveTo>
                  <a:lnTo>
                    <a:pt x="0" y="987899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987899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54757" y="3903682"/>
              <a:ext cx="989330" cy="988060"/>
            </a:xfrm>
            <a:custGeom>
              <a:avLst/>
              <a:gdLst/>
              <a:ahLst/>
              <a:cxnLst/>
              <a:rect l="l" t="t" r="r" b="b"/>
              <a:pathLst>
                <a:path w="989329" h="988060">
                  <a:moveTo>
                    <a:pt x="989099" y="987899"/>
                  </a:moveTo>
                  <a:lnTo>
                    <a:pt x="0" y="0"/>
                  </a:lnTo>
                  <a:lnTo>
                    <a:pt x="989099" y="0"/>
                  </a:lnTo>
                  <a:lnTo>
                    <a:pt x="989099" y="9878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4891594"/>
              <a:ext cx="9144000" cy="252095"/>
            </a:xfrm>
            <a:custGeom>
              <a:avLst/>
              <a:gdLst/>
              <a:ahLst/>
              <a:cxnLst/>
              <a:rect l="l" t="t" r="r" b="b"/>
              <a:pathLst>
                <a:path w="9144000" h="252095">
                  <a:moveTo>
                    <a:pt x="9143999" y="251999"/>
                  </a:moveTo>
                  <a:lnTo>
                    <a:pt x="0" y="2519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1999"/>
                  </a:lnTo>
                  <a:close/>
                </a:path>
              </a:pathLst>
            </a:custGeom>
            <a:solidFill>
              <a:srgbClr val="2A3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39451" y="724535"/>
              <a:ext cx="3639185" cy="647065"/>
            </a:xfrm>
            <a:custGeom>
              <a:avLst/>
              <a:gdLst/>
              <a:ahLst/>
              <a:cxnLst/>
              <a:rect l="l" t="t" r="r" b="b"/>
              <a:pathLst>
                <a:path w="3639184" h="647065">
                  <a:moveTo>
                    <a:pt x="3638699" y="646499"/>
                  </a:moveTo>
                  <a:lnTo>
                    <a:pt x="0" y="646499"/>
                  </a:lnTo>
                  <a:lnTo>
                    <a:pt x="0" y="0"/>
                  </a:lnTo>
                  <a:lnTo>
                    <a:pt x="3638699" y="0"/>
                  </a:lnTo>
                  <a:lnTo>
                    <a:pt x="3638699" y="646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5225" y="774518"/>
              <a:ext cx="474389" cy="44648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169499" y="676499"/>
            <a:ext cx="3639185" cy="50462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10209" algn="ctr">
              <a:lnSpc>
                <a:spcPct val="100000"/>
              </a:lnSpc>
              <a:spcBef>
                <a:spcPts val="1655"/>
              </a:spcBef>
            </a:pPr>
            <a:r>
              <a:rPr sz="1900" b="1" dirty="0">
                <a:latin typeface="Roboto"/>
                <a:cs typeface="Roboto"/>
              </a:rPr>
              <a:t>Goals</a:t>
            </a:r>
            <a:r>
              <a:rPr sz="1900" b="1" spc="5" dirty="0">
                <a:latin typeface="Roboto"/>
                <a:cs typeface="Roboto"/>
              </a:rPr>
              <a:t> </a:t>
            </a:r>
            <a:r>
              <a:rPr sz="1900" b="1" dirty="0">
                <a:latin typeface="Roboto"/>
                <a:cs typeface="Roboto"/>
              </a:rPr>
              <a:t>Of</a:t>
            </a:r>
            <a:r>
              <a:rPr sz="1900" b="1" spc="-45" dirty="0">
                <a:latin typeface="Roboto"/>
                <a:cs typeface="Roboto"/>
              </a:rPr>
              <a:t> </a:t>
            </a:r>
            <a:r>
              <a:rPr sz="1900" b="1" dirty="0">
                <a:latin typeface="Roboto"/>
                <a:cs typeface="Roboto"/>
              </a:rPr>
              <a:t>The</a:t>
            </a:r>
            <a:r>
              <a:rPr sz="1900" b="1" spc="10" dirty="0">
                <a:latin typeface="Roboto"/>
                <a:cs typeface="Roboto"/>
              </a:rPr>
              <a:t> </a:t>
            </a:r>
            <a:r>
              <a:rPr lang="en-IN" sz="1900" b="1" spc="10" dirty="0">
                <a:latin typeface="Roboto"/>
                <a:cs typeface="Roboto"/>
              </a:rPr>
              <a:t>Project</a:t>
            </a:r>
            <a:endParaRPr sz="1900" dirty="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21403" y="1538697"/>
            <a:ext cx="3535045" cy="1156727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8740" rIns="0" bIns="0" rtlCol="0">
            <a:spAutoFit/>
          </a:bodyPr>
          <a:lstStyle/>
          <a:p>
            <a:pPr marL="542290" indent="-408940">
              <a:lnSpc>
                <a:spcPct val="100000"/>
              </a:lnSpc>
              <a:spcBef>
                <a:spcPts val="620"/>
              </a:spcBef>
              <a:buFont typeface="MS PGothic"/>
              <a:buChar char="❖"/>
              <a:tabLst>
                <a:tab pos="542290" algn="l"/>
              </a:tabLst>
            </a:pPr>
            <a:r>
              <a:rPr sz="1400" dirty="0">
                <a:latin typeface="Roboto"/>
                <a:cs typeface="Roboto"/>
              </a:rPr>
              <a:t>Book</a:t>
            </a:r>
            <a:r>
              <a:rPr sz="1400" spc="-60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Hotel</a:t>
            </a:r>
            <a:r>
              <a:rPr sz="1400" spc="-60" dirty="0">
                <a:latin typeface="Roboto"/>
                <a:cs typeface="Roboto"/>
              </a:rPr>
              <a:t> </a:t>
            </a:r>
            <a:endParaRPr sz="1400" dirty="0">
              <a:latin typeface="Roboto"/>
              <a:cs typeface="Roboto"/>
            </a:endParaRPr>
          </a:p>
          <a:p>
            <a:pPr marL="542290" indent="-408940">
              <a:lnSpc>
                <a:spcPct val="100000"/>
              </a:lnSpc>
              <a:buFont typeface="MS PGothic"/>
              <a:buChar char="❖"/>
              <a:tabLst>
                <a:tab pos="542290" algn="l"/>
              </a:tabLst>
            </a:pPr>
            <a:r>
              <a:rPr lang="en-IN" sz="1400" spc="-50" dirty="0">
                <a:latin typeface="Roboto"/>
                <a:cs typeface="Roboto"/>
              </a:rPr>
              <a:t>A</a:t>
            </a:r>
            <a:r>
              <a:rPr sz="1400" spc="-20" dirty="0">
                <a:latin typeface="Roboto"/>
                <a:cs typeface="Roboto"/>
              </a:rPr>
              <a:t>bout</a:t>
            </a:r>
            <a:r>
              <a:rPr sz="1400" spc="-50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hotel</a:t>
            </a:r>
            <a:endParaRPr sz="1400" dirty="0">
              <a:latin typeface="Roboto"/>
              <a:cs typeface="Roboto"/>
            </a:endParaRPr>
          </a:p>
          <a:p>
            <a:pPr marL="542290" indent="-408940">
              <a:lnSpc>
                <a:spcPct val="100000"/>
              </a:lnSpc>
              <a:buFont typeface="MS PGothic"/>
              <a:buChar char="❖"/>
              <a:tabLst>
                <a:tab pos="542290" algn="l"/>
              </a:tabLst>
            </a:pPr>
            <a:r>
              <a:rPr sz="1400" spc="-20" dirty="0">
                <a:latin typeface="Roboto"/>
                <a:cs typeface="Roboto"/>
              </a:rPr>
              <a:t>Managers</a:t>
            </a:r>
            <a:r>
              <a:rPr sz="1400" spc="-35" dirty="0">
                <a:latin typeface="Roboto"/>
                <a:cs typeface="Roboto"/>
              </a:rPr>
              <a:t> </a:t>
            </a:r>
            <a:r>
              <a:rPr sz="1400" spc="-20" dirty="0">
                <a:latin typeface="Roboto"/>
                <a:cs typeface="Roboto"/>
              </a:rPr>
              <a:t>manages</a:t>
            </a:r>
            <a:r>
              <a:rPr sz="1400" spc="-30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room</a:t>
            </a:r>
            <a:r>
              <a:rPr sz="1400" spc="-30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digitally</a:t>
            </a:r>
            <a:endParaRPr sz="1400" dirty="0">
              <a:latin typeface="Roboto"/>
              <a:cs typeface="Roboto"/>
            </a:endParaRPr>
          </a:p>
          <a:p>
            <a:pPr marL="542290" indent="-408940">
              <a:lnSpc>
                <a:spcPct val="100000"/>
              </a:lnSpc>
              <a:buFont typeface="MS PGothic"/>
              <a:buChar char="❖"/>
              <a:tabLst>
                <a:tab pos="542290" algn="l"/>
              </a:tabLst>
            </a:pPr>
            <a:r>
              <a:rPr sz="1400" dirty="0">
                <a:latin typeface="Roboto"/>
                <a:cs typeface="Roboto"/>
              </a:rPr>
              <a:t>Admins</a:t>
            </a:r>
            <a:r>
              <a:rPr sz="1400" spc="-55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can</a:t>
            </a:r>
            <a:r>
              <a:rPr sz="1400" spc="-55" dirty="0">
                <a:latin typeface="Roboto"/>
                <a:cs typeface="Roboto"/>
              </a:rPr>
              <a:t> </a:t>
            </a:r>
            <a:r>
              <a:rPr lang="en-IN" sz="1400" spc="-55" dirty="0">
                <a:latin typeface="Roboto"/>
                <a:cs typeface="Roboto"/>
              </a:rPr>
              <a:t>modify Application and Database</a:t>
            </a:r>
            <a:endParaRPr lang="en-IN" sz="1400" spc="-10" dirty="0">
              <a:latin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050" y="0"/>
            <a:ext cx="9144087" cy="5007362"/>
            <a:chOff x="0" y="136327"/>
            <a:chExt cx="9144087" cy="5007362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" y="136327"/>
              <a:ext cx="7962900" cy="46452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181153" y="3903675"/>
              <a:ext cx="2962910" cy="988060"/>
            </a:xfrm>
            <a:custGeom>
              <a:avLst/>
              <a:gdLst/>
              <a:ahLst/>
              <a:cxnLst/>
              <a:rect l="l" t="t" r="r" b="b"/>
              <a:pathLst>
                <a:path w="2962909" h="988060">
                  <a:moveTo>
                    <a:pt x="989101" y="0"/>
                  </a:moveTo>
                  <a:lnTo>
                    <a:pt x="0" y="987894"/>
                  </a:lnTo>
                  <a:lnTo>
                    <a:pt x="989101" y="987894"/>
                  </a:lnTo>
                  <a:lnTo>
                    <a:pt x="989101" y="0"/>
                  </a:lnTo>
                  <a:close/>
                </a:path>
                <a:path w="2962909" h="988060">
                  <a:moveTo>
                    <a:pt x="2962833" y="987894"/>
                  </a:moveTo>
                  <a:lnTo>
                    <a:pt x="1973732" y="0"/>
                  </a:lnTo>
                  <a:lnTo>
                    <a:pt x="1973732" y="987894"/>
                  </a:lnTo>
                  <a:lnTo>
                    <a:pt x="2962833" y="98789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70273" y="3903669"/>
              <a:ext cx="989330" cy="988060"/>
            </a:xfrm>
            <a:custGeom>
              <a:avLst/>
              <a:gdLst/>
              <a:ahLst/>
              <a:cxnLst/>
              <a:rect l="l" t="t" r="r" b="b"/>
              <a:pathLst>
                <a:path w="989329" h="988060">
                  <a:moveTo>
                    <a:pt x="989099" y="987899"/>
                  </a:moveTo>
                  <a:lnTo>
                    <a:pt x="0" y="987899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987899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54757" y="3903682"/>
              <a:ext cx="989330" cy="988060"/>
            </a:xfrm>
            <a:custGeom>
              <a:avLst/>
              <a:gdLst/>
              <a:ahLst/>
              <a:cxnLst/>
              <a:rect l="l" t="t" r="r" b="b"/>
              <a:pathLst>
                <a:path w="989329" h="988060">
                  <a:moveTo>
                    <a:pt x="989099" y="987899"/>
                  </a:moveTo>
                  <a:lnTo>
                    <a:pt x="0" y="0"/>
                  </a:lnTo>
                  <a:lnTo>
                    <a:pt x="989099" y="0"/>
                  </a:lnTo>
                  <a:lnTo>
                    <a:pt x="989099" y="9878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4891594"/>
              <a:ext cx="9144000" cy="252095"/>
            </a:xfrm>
            <a:custGeom>
              <a:avLst/>
              <a:gdLst/>
              <a:ahLst/>
              <a:cxnLst/>
              <a:rect l="l" t="t" r="r" b="b"/>
              <a:pathLst>
                <a:path w="9144000" h="252095">
                  <a:moveTo>
                    <a:pt x="9143999" y="251999"/>
                  </a:moveTo>
                  <a:lnTo>
                    <a:pt x="0" y="2519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1999"/>
                  </a:lnTo>
                  <a:close/>
                </a:path>
              </a:pathLst>
            </a:custGeom>
            <a:solidFill>
              <a:srgbClr val="2A3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0975" y="356756"/>
              <a:ext cx="300385" cy="282715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09199" y="338624"/>
            <a:ext cx="8125600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1610">
              <a:lnSpc>
                <a:spcPct val="100000"/>
              </a:lnSpc>
              <a:spcBef>
                <a:spcPts val="100"/>
              </a:spcBef>
            </a:pPr>
            <a:r>
              <a:rPr dirty="0"/>
              <a:t>Objectives</a:t>
            </a:r>
            <a:r>
              <a:rPr spc="-1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lang="en-IN" spc="-10" dirty="0"/>
              <a:t>Project</a:t>
            </a:r>
            <a:endParaRPr spc="-10" dirty="0"/>
          </a:p>
        </p:txBody>
      </p:sp>
      <p:sp>
        <p:nvSpPr>
          <p:cNvPr id="10" name="object 10"/>
          <p:cNvSpPr txBox="1"/>
          <p:nvPr/>
        </p:nvSpPr>
        <p:spPr>
          <a:xfrm>
            <a:off x="577400" y="897637"/>
            <a:ext cx="4552315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v"/>
              <a:tabLst>
                <a:tab pos="421640" algn="l"/>
              </a:tabLst>
            </a:pPr>
            <a:r>
              <a:rPr sz="1400" spc="-20" dirty="0">
                <a:latin typeface="Roboto"/>
                <a:cs typeface="Roboto"/>
              </a:rPr>
              <a:t>Using</a:t>
            </a:r>
            <a:r>
              <a:rPr sz="1400" spc="-40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MySql</a:t>
            </a:r>
            <a:r>
              <a:rPr sz="1400" spc="-40" dirty="0">
                <a:latin typeface="Roboto"/>
                <a:cs typeface="Roboto"/>
              </a:rPr>
              <a:t> </a:t>
            </a:r>
            <a:r>
              <a:rPr sz="1400" spc="-20" dirty="0">
                <a:latin typeface="Roboto"/>
                <a:cs typeface="Roboto"/>
              </a:rPr>
              <a:t>Database</a:t>
            </a:r>
            <a:r>
              <a:rPr sz="1400" spc="-40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to</a:t>
            </a:r>
            <a:r>
              <a:rPr sz="1400" spc="-40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Store</a:t>
            </a:r>
            <a:r>
              <a:rPr sz="1400" spc="-40" dirty="0">
                <a:latin typeface="Roboto"/>
                <a:cs typeface="Roboto"/>
              </a:rPr>
              <a:t> </a:t>
            </a:r>
            <a:r>
              <a:rPr sz="1400" spc="-20" dirty="0">
                <a:latin typeface="Roboto"/>
                <a:cs typeface="Roboto"/>
              </a:rPr>
              <a:t>Data</a:t>
            </a:r>
            <a:endParaRPr sz="1400" dirty="0">
              <a:latin typeface="Roboto"/>
              <a:cs typeface="Roboto"/>
            </a:endParaRPr>
          </a:p>
          <a:p>
            <a:pPr marL="298450" indent="-285750">
              <a:lnSpc>
                <a:spcPct val="100000"/>
              </a:lnSpc>
              <a:buFont typeface="Wingdings" panose="05000000000000000000" pitchFamily="2" charset="2"/>
              <a:buChar char="v"/>
              <a:tabLst>
                <a:tab pos="421640" algn="l"/>
              </a:tabLst>
            </a:pPr>
            <a:r>
              <a:rPr sz="1400" dirty="0">
                <a:latin typeface="Roboto"/>
                <a:cs typeface="Roboto"/>
              </a:rPr>
              <a:t>A</a:t>
            </a:r>
            <a:r>
              <a:rPr sz="1400" spc="-30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option</a:t>
            </a:r>
            <a:r>
              <a:rPr sz="1400" spc="-25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for</a:t>
            </a:r>
            <a:r>
              <a:rPr sz="1400" spc="-25" dirty="0">
                <a:latin typeface="Roboto"/>
                <a:cs typeface="Roboto"/>
              </a:rPr>
              <a:t> </a:t>
            </a:r>
            <a:r>
              <a:rPr lang="en-IN" sz="1400" spc="-20" dirty="0">
                <a:latin typeface="Roboto"/>
                <a:cs typeface="Roboto"/>
              </a:rPr>
              <a:t>Employee</a:t>
            </a:r>
            <a:r>
              <a:rPr sz="1400" spc="-25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to</a:t>
            </a:r>
            <a:r>
              <a:rPr sz="1400" spc="-25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book</a:t>
            </a:r>
            <a:r>
              <a:rPr sz="1400" spc="-30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hotel</a:t>
            </a:r>
            <a:endParaRPr sz="1400" dirty="0">
              <a:latin typeface="Roboto"/>
              <a:cs typeface="Roboto"/>
            </a:endParaRPr>
          </a:p>
          <a:p>
            <a:pPr marL="298450" indent="-285750">
              <a:lnSpc>
                <a:spcPct val="100000"/>
              </a:lnSpc>
              <a:buFont typeface="Wingdings" panose="05000000000000000000" pitchFamily="2" charset="2"/>
              <a:buChar char="v"/>
              <a:tabLst>
                <a:tab pos="421640" algn="l"/>
              </a:tabLst>
            </a:pPr>
            <a:r>
              <a:rPr sz="1400" dirty="0">
                <a:latin typeface="Roboto"/>
                <a:cs typeface="Roboto"/>
              </a:rPr>
              <a:t>A</a:t>
            </a:r>
            <a:r>
              <a:rPr sz="1400" spc="-30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option</a:t>
            </a:r>
            <a:r>
              <a:rPr sz="1400" spc="-25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to</a:t>
            </a:r>
            <a:r>
              <a:rPr sz="1400" spc="-25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see</a:t>
            </a:r>
            <a:r>
              <a:rPr sz="1400" spc="-30" dirty="0">
                <a:latin typeface="Roboto"/>
                <a:cs typeface="Roboto"/>
              </a:rPr>
              <a:t> </a:t>
            </a:r>
            <a:r>
              <a:rPr sz="1400" spc="-20" dirty="0">
                <a:latin typeface="Roboto"/>
                <a:cs typeface="Roboto"/>
              </a:rPr>
              <a:t>available</a:t>
            </a:r>
            <a:r>
              <a:rPr sz="1400" spc="-25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rooms</a:t>
            </a:r>
            <a:endParaRPr sz="1400" dirty="0">
              <a:latin typeface="Roboto"/>
              <a:cs typeface="Roboto"/>
            </a:endParaRPr>
          </a:p>
          <a:p>
            <a:pPr marL="298450" indent="-285750">
              <a:lnSpc>
                <a:spcPct val="100000"/>
              </a:lnSpc>
              <a:buFont typeface="Wingdings" panose="05000000000000000000" pitchFamily="2" charset="2"/>
              <a:buChar char="v"/>
              <a:tabLst>
                <a:tab pos="421640" algn="l"/>
              </a:tabLst>
            </a:pPr>
            <a:r>
              <a:rPr sz="1400" spc="-10" dirty="0">
                <a:latin typeface="Roboto"/>
                <a:cs typeface="Roboto"/>
              </a:rPr>
              <a:t>Better</a:t>
            </a:r>
            <a:r>
              <a:rPr sz="1400" spc="-50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system</a:t>
            </a:r>
            <a:r>
              <a:rPr sz="1400" spc="-50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to</a:t>
            </a:r>
            <a:r>
              <a:rPr sz="1400" spc="-45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store</a:t>
            </a:r>
            <a:r>
              <a:rPr sz="1400" spc="-50" dirty="0">
                <a:latin typeface="Roboto"/>
                <a:cs typeface="Roboto"/>
              </a:rPr>
              <a:t> </a:t>
            </a:r>
            <a:r>
              <a:rPr sz="1400" spc="-20" dirty="0">
                <a:latin typeface="Roboto"/>
                <a:cs typeface="Roboto"/>
              </a:rPr>
              <a:t>current</a:t>
            </a:r>
            <a:r>
              <a:rPr sz="1400" spc="-50" dirty="0">
                <a:latin typeface="Roboto"/>
                <a:cs typeface="Roboto"/>
              </a:rPr>
              <a:t> </a:t>
            </a:r>
            <a:r>
              <a:rPr lang="en-IN" sz="1400" spc="-10" dirty="0">
                <a:latin typeface="Roboto"/>
                <a:cs typeface="Roboto"/>
              </a:rPr>
              <a:t>customer</a:t>
            </a:r>
            <a:r>
              <a:rPr sz="1400" spc="-45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information</a:t>
            </a:r>
            <a:endParaRPr lang="en-IN" sz="1400" spc="-10" dirty="0">
              <a:latin typeface="Roboto"/>
              <a:cs typeface="Roboto"/>
            </a:endParaRPr>
          </a:p>
          <a:p>
            <a:pPr marL="298450" indent="-285750">
              <a:lnSpc>
                <a:spcPct val="100000"/>
              </a:lnSpc>
              <a:buFont typeface="Wingdings" panose="05000000000000000000" pitchFamily="2" charset="2"/>
              <a:buChar char="v"/>
              <a:tabLst>
                <a:tab pos="421640" algn="l"/>
              </a:tabLst>
            </a:pPr>
            <a:r>
              <a:rPr lang="en-IN" sz="1400" spc="-10" dirty="0">
                <a:latin typeface="Roboto"/>
                <a:cs typeface="Roboto"/>
              </a:rPr>
              <a:t>A option for automatic bill generate</a:t>
            </a:r>
          </a:p>
          <a:p>
            <a:pPr marL="298450" indent="-285750">
              <a:lnSpc>
                <a:spcPct val="100000"/>
              </a:lnSpc>
              <a:buFont typeface="Wingdings" panose="05000000000000000000" pitchFamily="2" charset="2"/>
              <a:buChar char="v"/>
              <a:tabLst>
                <a:tab pos="421640" algn="l"/>
              </a:tabLst>
            </a:pPr>
            <a:r>
              <a:rPr lang="en-IN" sz="1400" spc="-10" dirty="0">
                <a:latin typeface="Roboto"/>
                <a:cs typeface="Roboto"/>
              </a:rPr>
              <a:t>Customer Details and Room booked details </a:t>
            </a:r>
          </a:p>
          <a:p>
            <a:pPr marL="12700">
              <a:lnSpc>
                <a:spcPct val="100000"/>
              </a:lnSpc>
              <a:tabLst>
                <a:tab pos="421640" algn="l"/>
              </a:tabLst>
            </a:pPr>
            <a:r>
              <a:rPr lang="en-IN" sz="1400" spc="-10" dirty="0">
                <a:latin typeface="Roboto"/>
                <a:cs typeface="Roboto"/>
              </a:rPr>
              <a:t>       searching system.</a:t>
            </a:r>
          </a:p>
          <a:p>
            <a:pPr marL="12700">
              <a:lnSpc>
                <a:spcPct val="100000"/>
              </a:lnSpc>
              <a:tabLst>
                <a:tab pos="421640" algn="l"/>
              </a:tabLst>
            </a:pPr>
            <a:endParaRPr lang="en-IN" sz="1400" spc="-1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tabLst>
                <a:tab pos="421640" algn="l"/>
              </a:tabLst>
            </a:pPr>
            <a:endParaRPr sz="1400" dirty="0">
              <a:latin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4135"/>
            <a:chOff x="0" y="0"/>
            <a:chExt cx="9144000" cy="51441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181153" y="3903675"/>
              <a:ext cx="2962910" cy="988060"/>
            </a:xfrm>
            <a:custGeom>
              <a:avLst/>
              <a:gdLst/>
              <a:ahLst/>
              <a:cxnLst/>
              <a:rect l="l" t="t" r="r" b="b"/>
              <a:pathLst>
                <a:path w="2962909" h="988060">
                  <a:moveTo>
                    <a:pt x="989101" y="0"/>
                  </a:moveTo>
                  <a:lnTo>
                    <a:pt x="0" y="987894"/>
                  </a:lnTo>
                  <a:lnTo>
                    <a:pt x="989101" y="987894"/>
                  </a:lnTo>
                  <a:lnTo>
                    <a:pt x="989101" y="0"/>
                  </a:lnTo>
                  <a:close/>
                </a:path>
                <a:path w="2962909" h="988060">
                  <a:moveTo>
                    <a:pt x="2962833" y="987894"/>
                  </a:moveTo>
                  <a:lnTo>
                    <a:pt x="1973732" y="0"/>
                  </a:lnTo>
                  <a:lnTo>
                    <a:pt x="1973732" y="987894"/>
                  </a:lnTo>
                  <a:lnTo>
                    <a:pt x="2962833" y="98789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70273" y="3903669"/>
              <a:ext cx="989330" cy="988060"/>
            </a:xfrm>
            <a:custGeom>
              <a:avLst/>
              <a:gdLst/>
              <a:ahLst/>
              <a:cxnLst/>
              <a:rect l="l" t="t" r="r" b="b"/>
              <a:pathLst>
                <a:path w="989329" h="988060">
                  <a:moveTo>
                    <a:pt x="989099" y="987899"/>
                  </a:moveTo>
                  <a:lnTo>
                    <a:pt x="0" y="987899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987899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54757" y="3903682"/>
              <a:ext cx="989330" cy="988060"/>
            </a:xfrm>
            <a:custGeom>
              <a:avLst/>
              <a:gdLst/>
              <a:ahLst/>
              <a:cxnLst/>
              <a:rect l="l" t="t" r="r" b="b"/>
              <a:pathLst>
                <a:path w="989329" h="988060">
                  <a:moveTo>
                    <a:pt x="989099" y="987899"/>
                  </a:moveTo>
                  <a:lnTo>
                    <a:pt x="0" y="0"/>
                  </a:lnTo>
                  <a:lnTo>
                    <a:pt x="989099" y="0"/>
                  </a:lnTo>
                  <a:lnTo>
                    <a:pt x="989099" y="9878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4891594"/>
              <a:ext cx="9144000" cy="252095"/>
            </a:xfrm>
            <a:custGeom>
              <a:avLst/>
              <a:gdLst/>
              <a:ahLst/>
              <a:cxnLst/>
              <a:rect l="l" t="t" r="r" b="b"/>
              <a:pathLst>
                <a:path w="9144000" h="252095">
                  <a:moveTo>
                    <a:pt x="9143999" y="251999"/>
                  </a:moveTo>
                  <a:lnTo>
                    <a:pt x="0" y="2519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1999"/>
                  </a:lnTo>
                  <a:close/>
                </a:path>
              </a:pathLst>
            </a:custGeom>
            <a:solidFill>
              <a:srgbClr val="2A3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9199" y="338624"/>
              <a:ext cx="4129404" cy="477520"/>
            </a:xfrm>
            <a:custGeom>
              <a:avLst/>
              <a:gdLst/>
              <a:ahLst/>
              <a:cxnLst/>
              <a:rect l="l" t="t" r="r" b="b"/>
              <a:pathLst>
                <a:path w="4129404" h="477519">
                  <a:moveTo>
                    <a:pt x="4128899" y="476999"/>
                  </a:moveTo>
                  <a:lnTo>
                    <a:pt x="0" y="476999"/>
                  </a:lnTo>
                  <a:lnTo>
                    <a:pt x="0" y="0"/>
                  </a:lnTo>
                  <a:lnTo>
                    <a:pt x="4128899" y="0"/>
                  </a:lnTo>
                  <a:lnTo>
                    <a:pt x="4128899" y="47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925" y="432181"/>
              <a:ext cx="300385" cy="282715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445770">
              <a:lnSpc>
                <a:spcPct val="100000"/>
              </a:lnSpc>
              <a:spcBef>
                <a:spcPts val="595"/>
              </a:spcBef>
            </a:pPr>
            <a:r>
              <a:rPr b="0" spc="-20" dirty="0">
                <a:latin typeface="Roboto"/>
                <a:cs typeface="Roboto"/>
              </a:rPr>
              <a:t>Feasibility</a:t>
            </a:r>
            <a:r>
              <a:rPr b="0" spc="-10" dirty="0">
                <a:latin typeface="Roboto"/>
                <a:cs typeface="Roboto"/>
              </a:rPr>
              <a:t> Analysis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720700" y="907149"/>
            <a:ext cx="4313555" cy="1280795"/>
            <a:chOff x="720700" y="907149"/>
            <a:chExt cx="4313555" cy="1280795"/>
          </a:xfrm>
        </p:grpSpPr>
        <p:sp>
          <p:nvSpPr>
            <p:cNvPr id="12" name="object 12"/>
            <p:cNvSpPr/>
            <p:nvPr/>
          </p:nvSpPr>
          <p:spPr>
            <a:xfrm>
              <a:off x="720700" y="907149"/>
              <a:ext cx="4313555" cy="1280795"/>
            </a:xfrm>
            <a:custGeom>
              <a:avLst/>
              <a:gdLst/>
              <a:ahLst/>
              <a:cxnLst/>
              <a:rect l="l" t="t" r="r" b="b"/>
              <a:pathLst>
                <a:path w="4313555" h="1280795">
                  <a:moveTo>
                    <a:pt x="4313099" y="1280699"/>
                  </a:moveTo>
                  <a:lnTo>
                    <a:pt x="0" y="1280699"/>
                  </a:lnTo>
                  <a:lnTo>
                    <a:pt x="0" y="0"/>
                  </a:lnTo>
                  <a:lnTo>
                    <a:pt x="4313099" y="0"/>
                  </a:lnTo>
                  <a:lnTo>
                    <a:pt x="4313099" y="1280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6425" y="999477"/>
              <a:ext cx="252946" cy="23806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20700" y="907149"/>
            <a:ext cx="4313555" cy="128079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84175">
              <a:lnSpc>
                <a:spcPct val="100000"/>
              </a:lnSpc>
              <a:spcBef>
                <a:spcPts val="610"/>
              </a:spcBef>
            </a:pPr>
            <a:r>
              <a:rPr sz="1600" spc="-10" dirty="0">
                <a:latin typeface="Roboto Lt"/>
                <a:cs typeface="Roboto Lt"/>
              </a:rPr>
              <a:t>Technical</a:t>
            </a:r>
            <a:r>
              <a:rPr sz="1600" spc="-50" dirty="0">
                <a:latin typeface="Roboto Lt"/>
                <a:cs typeface="Roboto Lt"/>
              </a:rPr>
              <a:t> </a:t>
            </a:r>
            <a:r>
              <a:rPr sz="1600" spc="-10" dirty="0">
                <a:latin typeface="Roboto Lt"/>
                <a:cs typeface="Roboto Lt"/>
              </a:rPr>
              <a:t>Feasibility:</a:t>
            </a:r>
            <a:endParaRPr sz="1600">
              <a:latin typeface="Roboto Lt"/>
              <a:cs typeface="Roboto Lt"/>
            </a:endParaRPr>
          </a:p>
          <a:p>
            <a:pPr marL="542290" indent="-427990">
              <a:lnSpc>
                <a:spcPct val="100000"/>
              </a:lnSpc>
              <a:spcBef>
                <a:spcPts val="290"/>
              </a:spcBef>
              <a:buFont typeface="MS PGothic"/>
              <a:buChar char="➔"/>
              <a:tabLst>
                <a:tab pos="542290" algn="l"/>
              </a:tabLst>
            </a:pPr>
            <a:r>
              <a:rPr sz="1600" spc="-10" dirty="0">
                <a:latin typeface="Roboto"/>
                <a:cs typeface="Roboto"/>
              </a:rPr>
              <a:t>Easily</a:t>
            </a:r>
            <a:r>
              <a:rPr sz="1600" spc="-7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runs</a:t>
            </a:r>
            <a:r>
              <a:rPr sz="1600" spc="-70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in</a:t>
            </a:r>
            <a:r>
              <a:rPr sz="1600" spc="-70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any</a:t>
            </a:r>
            <a:r>
              <a:rPr sz="1600" spc="-7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computer.</a:t>
            </a:r>
            <a:endParaRPr sz="1600">
              <a:latin typeface="Roboto"/>
              <a:cs typeface="Roboto"/>
            </a:endParaRPr>
          </a:p>
          <a:p>
            <a:pPr marL="542290" indent="-427990">
              <a:lnSpc>
                <a:spcPct val="100000"/>
              </a:lnSpc>
              <a:spcBef>
                <a:spcPts val="285"/>
              </a:spcBef>
              <a:buFont typeface="MS PGothic"/>
              <a:buChar char="➔"/>
              <a:tabLst>
                <a:tab pos="542290" algn="l"/>
              </a:tabLst>
            </a:pPr>
            <a:r>
              <a:rPr sz="1600" dirty="0">
                <a:latin typeface="Roboto"/>
                <a:cs typeface="Roboto"/>
              </a:rPr>
              <a:t>Works</a:t>
            </a:r>
            <a:r>
              <a:rPr sz="1600" spc="-65" dirty="0">
                <a:latin typeface="Roboto"/>
                <a:cs typeface="Roboto"/>
              </a:rPr>
              <a:t> </a:t>
            </a:r>
            <a:r>
              <a:rPr sz="1600" spc="-20" dirty="0">
                <a:latin typeface="Roboto"/>
                <a:cs typeface="Roboto"/>
              </a:rPr>
              <a:t>eﬃciently</a:t>
            </a:r>
            <a:r>
              <a:rPr sz="1600" spc="-60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on</a:t>
            </a:r>
            <a:r>
              <a:rPr sz="1600" spc="-60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any</a:t>
            </a:r>
            <a:r>
              <a:rPr sz="1600" spc="-65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hotel</a:t>
            </a:r>
            <a:r>
              <a:rPr sz="1600" spc="-60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computer.</a:t>
            </a:r>
            <a:endParaRPr sz="1600">
              <a:latin typeface="Roboto"/>
              <a:cs typeface="Roboto"/>
            </a:endParaRPr>
          </a:p>
          <a:p>
            <a:pPr marL="542290" indent="-427990">
              <a:lnSpc>
                <a:spcPct val="100000"/>
              </a:lnSpc>
              <a:spcBef>
                <a:spcPts val="290"/>
              </a:spcBef>
              <a:buFont typeface="MS PGothic"/>
              <a:buChar char="➔"/>
              <a:tabLst>
                <a:tab pos="542290" algn="l"/>
              </a:tabLst>
            </a:pPr>
            <a:r>
              <a:rPr sz="1600" dirty="0">
                <a:latin typeface="Roboto"/>
                <a:cs typeface="Roboto"/>
              </a:rPr>
              <a:t>Long</a:t>
            </a:r>
            <a:r>
              <a:rPr sz="1600" spc="-65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term</a:t>
            </a:r>
            <a:r>
              <a:rPr sz="1600" spc="-6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support</a:t>
            </a:r>
            <a:r>
              <a:rPr sz="1600" spc="-60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availability.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20700" y="2662124"/>
            <a:ext cx="4313555" cy="997585"/>
            <a:chOff x="720700" y="2662124"/>
            <a:chExt cx="4313555" cy="997585"/>
          </a:xfrm>
        </p:grpSpPr>
        <p:sp>
          <p:nvSpPr>
            <p:cNvPr id="16" name="object 16"/>
            <p:cNvSpPr/>
            <p:nvPr/>
          </p:nvSpPr>
          <p:spPr>
            <a:xfrm>
              <a:off x="720700" y="2662124"/>
              <a:ext cx="4313555" cy="997585"/>
            </a:xfrm>
            <a:custGeom>
              <a:avLst/>
              <a:gdLst/>
              <a:ahLst/>
              <a:cxnLst/>
              <a:rect l="l" t="t" r="r" b="b"/>
              <a:pathLst>
                <a:path w="4313555" h="997585">
                  <a:moveTo>
                    <a:pt x="4313099" y="997499"/>
                  </a:moveTo>
                  <a:lnTo>
                    <a:pt x="0" y="997499"/>
                  </a:lnTo>
                  <a:lnTo>
                    <a:pt x="0" y="0"/>
                  </a:lnTo>
                  <a:lnTo>
                    <a:pt x="4313099" y="0"/>
                  </a:lnTo>
                  <a:lnTo>
                    <a:pt x="4313099" y="997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6425" y="2754452"/>
              <a:ext cx="252946" cy="23806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20700" y="2662124"/>
            <a:ext cx="4313555" cy="99758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88620">
              <a:lnSpc>
                <a:spcPct val="100000"/>
              </a:lnSpc>
              <a:spcBef>
                <a:spcPts val="610"/>
              </a:spcBef>
            </a:pPr>
            <a:r>
              <a:rPr sz="1600" spc="-10" dirty="0">
                <a:latin typeface="Roboto Lt"/>
                <a:cs typeface="Roboto Lt"/>
              </a:rPr>
              <a:t>Economical</a:t>
            </a:r>
            <a:r>
              <a:rPr sz="1600" spc="-20" dirty="0">
                <a:latin typeface="Roboto Lt"/>
                <a:cs typeface="Roboto Lt"/>
              </a:rPr>
              <a:t> </a:t>
            </a:r>
            <a:r>
              <a:rPr sz="1600" spc="-10" dirty="0">
                <a:latin typeface="Roboto Lt"/>
                <a:cs typeface="Roboto Lt"/>
              </a:rPr>
              <a:t>Feasibility:</a:t>
            </a:r>
            <a:endParaRPr sz="1600">
              <a:latin typeface="Roboto Lt"/>
              <a:cs typeface="Roboto Lt"/>
            </a:endParaRPr>
          </a:p>
          <a:p>
            <a:pPr marL="542290" indent="-427990">
              <a:lnSpc>
                <a:spcPct val="100000"/>
              </a:lnSpc>
              <a:spcBef>
                <a:spcPts val="290"/>
              </a:spcBef>
              <a:buFont typeface="MS PGothic"/>
              <a:buChar char="➔"/>
              <a:tabLst>
                <a:tab pos="542290" algn="l"/>
              </a:tabLst>
            </a:pPr>
            <a:r>
              <a:rPr sz="1600" dirty="0">
                <a:latin typeface="Roboto"/>
                <a:cs typeface="Roboto"/>
              </a:rPr>
              <a:t>Fills</a:t>
            </a:r>
            <a:r>
              <a:rPr sz="1600" spc="-7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hotels</a:t>
            </a:r>
            <a:r>
              <a:rPr sz="1600" spc="-70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budget</a:t>
            </a:r>
            <a:r>
              <a:rPr sz="1600" spc="-70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requirement</a:t>
            </a:r>
            <a:endParaRPr sz="1600">
              <a:latin typeface="Roboto"/>
              <a:cs typeface="Roboto"/>
            </a:endParaRPr>
          </a:p>
          <a:p>
            <a:pPr marL="542290" indent="-427990">
              <a:lnSpc>
                <a:spcPct val="100000"/>
              </a:lnSpc>
              <a:spcBef>
                <a:spcPts val="285"/>
              </a:spcBef>
              <a:buFont typeface="MS PGothic"/>
              <a:buChar char="➔"/>
              <a:tabLst>
                <a:tab pos="542290" algn="l"/>
              </a:tabLst>
            </a:pPr>
            <a:r>
              <a:rPr sz="1600" spc="-10" dirty="0">
                <a:latin typeface="Roboto"/>
                <a:cs typeface="Roboto"/>
              </a:rPr>
              <a:t>Small</a:t>
            </a:r>
            <a:r>
              <a:rPr sz="1600" spc="-50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cost</a:t>
            </a:r>
            <a:r>
              <a:rPr sz="1600" spc="-50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on</a:t>
            </a:r>
            <a:r>
              <a:rPr sz="1600" spc="-50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future</a:t>
            </a:r>
            <a:r>
              <a:rPr sz="1600" spc="-50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update.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188149" y="1567024"/>
            <a:ext cx="3862070" cy="997585"/>
            <a:chOff x="5188149" y="1567024"/>
            <a:chExt cx="3862070" cy="997585"/>
          </a:xfrm>
        </p:grpSpPr>
        <p:sp>
          <p:nvSpPr>
            <p:cNvPr id="20" name="object 20"/>
            <p:cNvSpPr/>
            <p:nvPr/>
          </p:nvSpPr>
          <p:spPr>
            <a:xfrm>
              <a:off x="5188149" y="1567024"/>
              <a:ext cx="3862070" cy="997585"/>
            </a:xfrm>
            <a:custGeom>
              <a:avLst/>
              <a:gdLst/>
              <a:ahLst/>
              <a:cxnLst/>
              <a:rect l="l" t="t" r="r" b="b"/>
              <a:pathLst>
                <a:path w="3862070" h="997585">
                  <a:moveTo>
                    <a:pt x="3861599" y="997499"/>
                  </a:moveTo>
                  <a:lnTo>
                    <a:pt x="0" y="997499"/>
                  </a:lnTo>
                  <a:lnTo>
                    <a:pt x="0" y="0"/>
                  </a:lnTo>
                  <a:lnTo>
                    <a:pt x="3861599" y="0"/>
                  </a:lnTo>
                  <a:lnTo>
                    <a:pt x="3861599" y="997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24365" y="1659352"/>
              <a:ext cx="252946" cy="238066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188149" y="1567024"/>
            <a:ext cx="3862070" cy="99758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439420">
              <a:lnSpc>
                <a:spcPct val="100000"/>
              </a:lnSpc>
              <a:spcBef>
                <a:spcPts val="610"/>
              </a:spcBef>
            </a:pPr>
            <a:r>
              <a:rPr sz="1600" spc="-10" dirty="0">
                <a:latin typeface="Roboto Lt"/>
                <a:cs typeface="Roboto Lt"/>
              </a:rPr>
              <a:t>Operational</a:t>
            </a:r>
            <a:r>
              <a:rPr sz="1600" spc="-70" dirty="0">
                <a:latin typeface="Roboto Lt"/>
                <a:cs typeface="Roboto Lt"/>
              </a:rPr>
              <a:t> </a:t>
            </a:r>
            <a:r>
              <a:rPr sz="1600" spc="-10" dirty="0">
                <a:latin typeface="Roboto Lt"/>
                <a:cs typeface="Roboto Lt"/>
              </a:rPr>
              <a:t>Feasibility:</a:t>
            </a:r>
            <a:endParaRPr sz="1600">
              <a:latin typeface="Roboto Lt"/>
              <a:cs typeface="Roboto Lt"/>
            </a:endParaRPr>
          </a:p>
          <a:p>
            <a:pPr marL="542290" indent="-427990">
              <a:lnSpc>
                <a:spcPct val="100000"/>
              </a:lnSpc>
              <a:spcBef>
                <a:spcPts val="285"/>
              </a:spcBef>
              <a:buFont typeface="MS PGothic"/>
              <a:buChar char="➔"/>
              <a:tabLst>
                <a:tab pos="542290" algn="l"/>
              </a:tabLst>
            </a:pPr>
            <a:r>
              <a:rPr sz="1600" spc="-10" dirty="0">
                <a:latin typeface="Roboto"/>
                <a:cs typeface="Roboto"/>
              </a:rPr>
              <a:t>User</a:t>
            </a:r>
            <a:r>
              <a:rPr sz="1600" spc="-75" dirty="0">
                <a:latin typeface="Roboto"/>
                <a:cs typeface="Roboto"/>
              </a:rPr>
              <a:t> </a:t>
            </a:r>
            <a:r>
              <a:rPr sz="1600" spc="-20" dirty="0">
                <a:latin typeface="Roboto"/>
                <a:cs typeface="Roboto"/>
              </a:rPr>
              <a:t>Friendly</a:t>
            </a:r>
            <a:r>
              <a:rPr sz="1600" spc="-70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user</a:t>
            </a:r>
            <a:r>
              <a:rPr sz="1600" spc="-7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interface</a:t>
            </a:r>
            <a:endParaRPr sz="1600">
              <a:latin typeface="Roboto"/>
              <a:cs typeface="Roboto"/>
            </a:endParaRPr>
          </a:p>
          <a:p>
            <a:pPr marL="542290" indent="-427990">
              <a:lnSpc>
                <a:spcPct val="100000"/>
              </a:lnSpc>
              <a:spcBef>
                <a:spcPts val="290"/>
              </a:spcBef>
              <a:buFont typeface="MS PGothic"/>
              <a:buChar char="➔"/>
              <a:tabLst>
                <a:tab pos="542290" algn="l"/>
              </a:tabLst>
            </a:pPr>
            <a:r>
              <a:rPr sz="1600" dirty="0">
                <a:latin typeface="Roboto"/>
                <a:cs typeface="Roboto"/>
              </a:rPr>
              <a:t>Easy</a:t>
            </a:r>
            <a:r>
              <a:rPr sz="1600" spc="-75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to</a:t>
            </a:r>
            <a:r>
              <a:rPr sz="1600" spc="-75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teach</a:t>
            </a:r>
            <a:r>
              <a:rPr sz="1600" spc="-70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by</a:t>
            </a:r>
            <a:r>
              <a:rPr sz="1600" spc="-7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given</a:t>
            </a:r>
            <a:r>
              <a:rPr sz="1600" spc="-70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user</a:t>
            </a:r>
            <a:r>
              <a:rPr sz="1600" spc="-7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manual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9050"/>
            <a:ext cx="9144000" cy="5144135"/>
            <a:chOff x="0" y="0"/>
            <a:chExt cx="9144000" cy="51441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181153" y="3903675"/>
              <a:ext cx="2962910" cy="988060"/>
            </a:xfrm>
            <a:custGeom>
              <a:avLst/>
              <a:gdLst/>
              <a:ahLst/>
              <a:cxnLst/>
              <a:rect l="l" t="t" r="r" b="b"/>
              <a:pathLst>
                <a:path w="2962909" h="988060">
                  <a:moveTo>
                    <a:pt x="989101" y="0"/>
                  </a:moveTo>
                  <a:lnTo>
                    <a:pt x="0" y="987894"/>
                  </a:lnTo>
                  <a:lnTo>
                    <a:pt x="989101" y="987894"/>
                  </a:lnTo>
                  <a:lnTo>
                    <a:pt x="989101" y="0"/>
                  </a:lnTo>
                  <a:close/>
                </a:path>
                <a:path w="2962909" h="988060">
                  <a:moveTo>
                    <a:pt x="2962833" y="987894"/>
                  </a:moveTo>
                  <a:lnTo>
                    <a:pt x="1973732" y="0"/>
                  </a:lnTo>
                  <a:lnTo>
                    <a:pt x="1973732" y="987894"/>
                  </a:lnTo>
                  <a:lnTo>
                    <a:pt x="2962833" y="98789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70273" y="3903669"/>
              <a:ext cx="989330" cy="988060"/>
            </a:xfrm>
            <a:custGeom>
              <a:avLst/>
              <a:gdLst/>
              <a:ahLst/>
              <a:cxnLst/>
              <a:rect l="l" t="t" r="r" b="b"/>
              <a:pathLst>
                <a:path w="989329" h="988060">
                  <a:moveTo>
                    <a:pt x="989099" y="987899"/>
                  </a:moveTo>
                  <a:lnTo>
                    <a:pt x="0" y="987899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987899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54757" y="3903682"/>
              <a:ext cx="989330" cy="988060"/>
            </a:xfrm>
            <a:custGeom>
              <a:avLst/>
              <a:gdLst/>
              <a:ahLst/>
              <a:cxnLst/>
              <a:rect l="l" t="t" r="r" b="b"/>
              <a:pathLst>
                <a:path w="989329" h="988060">
                  <a:moveTo>
                    <a:pt x="989099" y="987899"/>
                  </a:moveTo>
                  <a:lnTo>
                    <a:pt x="0" y="0"/>
                  </a:lnTo>
                  <a:lnTo>
                    <a:pt x="989099" y="0"/>
                  </a:lnTo>
                  <a:lnTo>
                    <a:pt x="989099" y="9878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4891594"/>
              <a:ext cx="9144000" cy="252095"/>
            </a:xfrm>
            <a:custGeom>
              <a:avLst/>
              <a:gdLst/>
              <a:ahLst/>
              <a:cxnLst/>
              <a:rect l="l" t="t" r="r" b="b"/>
              <a:pathLst>
                <a:path w="9144000" h="252095">
                  <a:moveTo>
                    <a:pt x="9143999" y="251999"/>
                  </a:moveTo>
                  <a:lnTo>
                    <a:pt x="0" y="2519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1999"/>
                  </a:lnTo>
                  <a:close/>
                </a:path>
              </a:pathLst>
            </a:custGeom>
            <a:solidFill>
              <a:srgbClr val="2A3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4650" y="1567049"/>
              <a:ext cx="2107565" cy="477520"/>
            </a:xfrm>
            <a:custGeom>
              <a:avLst/>
              <a:gdLst/>
              <a:ahLst/>
              <a:cxnLst/>
              <a:rect l="l" t="t" r="r" b="b"/>
              <a:pathLst>
                <a:path w="2107565" h="477519">
                  <a:moveTo>
                    <a:pt x="2107499" y="476999"/>
                  </a:moveTo>
                  <a:lnTo>
                    <a:pt x="0" y="476999"/>
                  </a:lnTo>
                  <a:lnTo>
                    <a:pt x="0" y="0"/>
                  </a:lnTo>
                  <a:lnTo>
                    <a:pt x="2107499" y="0"/>
                  </a:lnTo>
                  <a:lnTo>
                    <a:pt x="2107499" y="47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0375" y="1660606"/>
              <a:ext cx="300385" cy="28271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54650" y="1567049"/>
            <a:ext cx="2107565" cy="47752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439420">
              <a:lnSpc>
                <a:spcPct val="100000"/>
              </a:lnSpc>
              <a:spcBef>
                <a:spcPts val="595"/>
              </a:spcBef>
            </a:pPr>
            <a:r>
              <a:rPr sz="1900" b="1" dirty="0">
                <a:latin typeface="Roboto"/>
                <a:cs typeface="Roboto"/>
              </a:rPr>
              <a:t>Types</a:t>
            </a:r>
            <a:r>
              <a:rPr sz="1900" b="1" spc="-10" dirty="0">
                <a:latin typeface="Roboto"/>
                <a:cs typeface="Roboto"/>
              </a:rPr>
              <a:t> </a:t>
            </a:r>
            <a:r>
              <a:rPr sz="1900" b="1" dirty="0">
                <a:latin typeface="Roboto"/>
                <a:cs typeface="Roboto"/>
              </a:rPr>
              <a:t>of</a:t>
            </a:r>
            <a:r>
              <a:rPr sz="1900" b="1" spc="-10" dirty="0">
                <a:latin typeface="Roboto"/>
                <a:cs typeface="Roboto"/>
              </a:rPr>
              <a:t> </a:t>
            </a:r>
            <a:r>
              <a:rPr sz="1900" b="1" spc="-20" dirty="0">
                <a:latin typeface="Roboto"/>
                <a:cs typeface="Roboto"/>
              </a:rPr>
              <a:t>User</a:t>
            </a:r>
            <a:endParaRPr sz="19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3487" y="2135575"/>
            <a:ext cx="2107565" cy="7258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8740" rIns="0" bIns="0" rtlCol="0">
            <a:spAutoFit/>
          </a:bodyPr>
          <a:lstStyle/>
          <a:p>
            <a:pPr marL="542290" indent="-408940">
              <a:lnSpc>
                <a:spcPct val="100000"/>
              </a:lnSpc>
              <a:spcBef>
                <a:spcPts val="620"/>
              </a:spcBef>
              <a:buFont typeface="MS PGothic"/>
              <a:buChar char="➢"/>
              <a:tabLst>
                <a:tab pos="542290" algn="l"/>
              </a:tabLst>
            </a:pPr>
            <a:r>
              <a:rPr lang="en-IN" sz="1400" spc="-10" dirty="0">
                <a:latin typeface="Roboto"/>
                <a:cs typeface="Roboto"/>
              </a:rPr>
              <a:t>Employee</a:t>
            </a:r>
            <a:endParaRPr sz="1400" dirty="0">
              <a:latin typeface="Roboto"/>
              <a:cs typeface="Roboto"/>
            </a:endParaRPr>
          </a:p>
          <a:p>
            <a:pPr marL="542290" indent="-408940">
              <a:lnSpc>
                <a:spcPct val="100000"/>
              </a:lnSpc>
              <a:buFont typeface="MS PGothic"/>
              <a:buChar char="➢"/>
              <a:tabLst>
                <a:tab pos="542290" algn="l"/>
              </a:tabLst>
            </a:pPr>
            <a:r>
              <a:rPr sz="1400" spc="-10" dirty="0">
                <a:latin typeface="Roboto"/>
                <a:cs typeface="Roboto"/>
              </a:rPr>
              <a:t>Manager</a:t>
            </a:r>
            <a:endParaRPr lang="en-IN" sz="1400" spc="-10" dirty="0">
              <a:latin typeface="Roboto"/>
              <a:cs typeface="Roboto"/>
            </a:endParaRPr>
          </a:p>
          <a:p>
            <a:pPr marL="542290" indent="-408940">
              <a:lnSpc>
                <a:spcPct val="100000"/>
              </a:lnSpc>
              <a:buFont typeface="MS PGothic"/>
              <a:buChar char="➢"/>
              <a:tabLst>
                <a:tab pos="542290" algn="l"/>
              </a:tabLst>
            </a:pPr>
            <a:r>
              <a:rPr lang="en-IN" sz="1400" spc="-10" dirty="0">
                <a:latin typeface="Roboto"/>
                <a:cs typeface="Roboto"/>
              </a:rPr>
              <a:t>Admin</a:t>
            </a:r>
            <a:endParaRPr sz="1400" dirty="0">
              <a:latin typeface="Roboto"/>
              <a:cs typeface="Roboto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3662" y="383331"/>
            <a:ext cx="300385" cy="282715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414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Functionality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10" dirty="0"/>
              <a:t>Users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857612" y="860025"/>
            <a:ext cx="2890520" cy="142474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747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610"/>
              </a:spcBef>
            </a:pPr>
            <a:r>
              <a:rPr lang="en-IN" sz="1600" spc="-10" dirty="0">
                <a:latin typeface="Roboto Lt"/>
                <a:cs typeface="Roboto Lt"/>
              </a:rPr>
              <a:t>Employee:</a:t>
            </a:r>
            <a:endParaRPr sz="1600" dirty="0">
              <a:latin typeface="Roboto Lt"/>
              <a:cs typeface="Roboto Lt"/>
            </a:endParaRPr>
          </a:p>
          <a:p>
            <a:pPr marL="542290" indent="-427990">
              <a:lnSpc>
                <a:spcPct val="100000"/>
              </a:lnSpc>
              <a:spcBef>
                <a:spcPts val="290"/>
              </a:spcBef>
              <a:buFont typeface="MS PGothic"/>
              <a:buChar char="➔"/>
              <a:tabLst>
                <a:tab pos="542290" algn="l"/>
              </a:tabLst>
            </a:pPr>
            <a:r>
              <a:rPr sz="1600" dirty="0">
                <a:latin typeface="Roboto"/>
                <a:cs typeface="Roboto"/>
              </a:rPr>
              <a:t>Books</a:t>
            </a:r>
            <a:r>
              <a:rPr sz="1600" spc="-70" dirty="0">
                <a:latin typeface="Roboto"/>
                <a:cs typeface="Roboto"/>
              </a:rPr>
              <a:t> </a:t>
            </a:r>
            <a:r>
              <a:rPr sz="1600" spc="-20" dirty="0">
                <a:latin typeface="Roboto"/>
                <a:cs typeface="Roboto"/>
              </a:rPr>
              <a:t>Room</a:t>
            </a:r>
            <a:endParaRPr lang="en-IN" sz="1600" spc="-20" dirty="0">
              <a:latin typeface="Roboto"/>
              <a:cs typeface="Roboto"/>
            </a:endParaRPr>
          </a:p>
          <a:p>
            <a:pPr marL="542290" indent="-427990">
              <a:lnSpc>
                <a:spcPct val="100000"/>
              </a:lnSpc>
              <a:spcBef>
                <a:spcPts val="290"/>
              </a:spcBef>
              <a:buFont typeface="MS PGothic"/>
              <a:buChar char="➔"/>
              <a:tabLst>
                <a:tab pos="542290" algn="l"/>
              </a:tabLst>
            </a:pPr>
            <a:r>
              <a:rPr lang="en-IN" sz="1600" dirty="0">
                <a:latin typeface="Roboto"/>
                <a:cs typeface="Roboto"/>
              </a:rPr>
              <a:t>Maintain Customer Details</a:t>
            </a:r>
            <a:endParaRPr sz="1600" dirty="0">
              <a:latin typeface="Roboto"/>
              <a:cs typeface="Roboto"/>
            </a:endParaRPr>
          </a:p>
          <a:p>
            <a:pPr marL="542290" indent="-427990">
              <a:lnSpc>
                <a:spcPct val="100000"/>
              </a:lnSpc>
              <a:spcBef>
                <a:spcPts val="285"/>
              </a:spcBef>
              <a:buFont typeface="MS PGothic"/>
              <a:buChar char="➔"/>
              <a:tabLst>
                <a:tab pos="542290" algn="l"/>
              </a:tabLst>
            </a:pPr>
            <a:r>
              <a:rPr lang="en-IN" sz="1600" spc="-10" dirty="0">
                <a:latin typeface="Roboto"/>
                <a:cs typeface="Roboto"/>
              </a:rPr>
              <a:t>Provide</a:t>
            </a:r>
            <a:r>
              <a:rPr sz="1600" spc="-7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Hotel</a:t>
            </a:r>
            <a:r>
              <a:rPr lang="en-IN" sz="1600" spc="-10" dirty="0">
                <a:latin typeface="Roboto"/>
                <a:cs typeface="Roboto"/>
              </a:rPr>
              <a:t> Service</a:t>
            </a:r>
            <a:endParaRPr sz="1600" dirty="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57600" y="2502024"/>
            <a:ext cx="2890520" cy="893834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747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610"/>
              </a:spcBef>
            </a:pPr>
            <a:r>
              <a:rPr sz="1600" spc="-10" dirty="0">
                <a:latin typeface="Roboto Lt"/>
                <a:cs typeface="Roboto Lt"/>
              </a:rPr>
              <a:t>Manager:</a:t>
            </a:r>
            <a:endParaRPr sz="1600" dirty="0">
              <a:latin typeface="Roboto Lt"/>
              <a:cs typeface="Roboto Lt"/>
            </a:endParaRPr>
          </a:p>
          <a:p>
            <a:pPr marL="542290" indent="-428625">
              <a:lnSpc>
                <a:spcPct val="100000"/>
              </a:lnSpc>
              <a:spcBef>
                <a:spcPts val="290"/>
              </a:spcBef>
              <a:buFont typeface="MS PGothic"/>
              <a:buChar char="➔"/>
              <a:tabLst>
                <a:tab pos="542290" algn="l"/>
              </a:tabLst>
            </a:pPr>
            <a:r>
              <a:rPr sz="1600" spc="-10" dirty="0">
                <a:latin typeface="Roboto"/>
                <a:cs typeface="Roboto"/>
              </a:rPr>
              <a:t>Manages</a:t>
            </a:r>
            <a:r>
              <a:rPr sz="1600" spc="-35" dirty="0">
                <a:latin typeface="Roboto"/>
                <a:cs typeface="Roboto"/>
              </a:rPr>
              <a:t> </a:t>
            </a:r>
            <a:r>
              <a:rPr sz="1600" spc="-20" dirty="0">
                <a:latin typeface="Roboto"/>
                <a:cs typeface="Roboto"/>
              </a:rPr>
              <a:t>room</a:t>
            </a:r>
            <a:endParaRPr sz="1600" dirty="0">
              <a:latin typeface="Roboto"/>
              <a:cs typeface="Roboto"/>
            </a:endParaRPr>
          </a:p>
          <a:p>
            <a:pPr marL="542290" indent="-428625">
              <a:lnSpc>
                <a:spcPct val="100000"/>
              </a:lnSpc>
              <a:spcBef>
                <a:spcPts val="285"/>
              </a:spcBef>
              <a:buFont typeface="MS PGothic"/>
              <a:buChar char="➔"/>
              <a:tabLst>
                <a:tab pos="542290" algn="l"/>
              </a:tabLst>
            </a:pPr>
            <a:r>
              <a:rPr sz="1600" dirty="0">
                <a:latin typeface="Roboto"/>
                <a:cs typeface="Roboto"/>
              </a:rPr>
              <a:t>Checks</a:t>
            </a:r>
            <a:r>
              <a:rPr sz="1600" spc="-75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out</a:t>
            </a:r>
            <a:r>
              <a:rPr sz="1600" spc="-70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customer</a:t>
            </a:r>
            <a:endParaRPr sz="1600" dirty="0">
              <a:latin typeface="Roboto"/>
              <a:cs typeface="Roboto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3D04F9-FDEC-360D-B018-A01380AA9033}"/>
              </a:ext>
            </a:extLst>
          </p:cNvPr>
          <p:cNvSpPr/>
          <p:nvPr/>
        </p:nvSpPr>
        <p:spPr>
          <a:xfrm>
            <a:off x="6400800" y="1200150"/>
            <a:ext cx="2133600" cy="13472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Admin:</a:t>
            </a:r>
          </a:p>
          <a:p>
            <a:pPr algn="ctr"/>
            <a:r>
              <a:rPr lang="en-IN" dirty="0"/>
              <a:t>Maintenance</a:t>
            </a:r>
          </a:p>
          <a:p>
            <a:pPr algn="ctr"/>
            <a:r>
              <a:rPr lang="en-IN" dirty="0"/>
              <a:t>Application</a:t>
            </a:r>
          </a:p>
          <a:p>
            <a:pPr algn="ctr"/>
            <a:endParaRPr lang="en-IN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CB35A50D-70A1-655D-87A6-0686E4B2C61C}"/>
              </a:ext>
            </a:extLst>
          </p:cNvPr>
          <p:cNvSpPr/>
          <p:nvPr/>
        </p:nvSpPr>
        <p:spPr>
          <a:xfrm>
            <a:off x="6553200" y="1717859"/>
            <a:ext cx="228600" cy="8619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4135"/>
            <a:chOff x="0" y="0"/>
            <a:chExt cx="9144000" cy="51441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181153" y="3903675"/>
              <a:ext cx="2962910" cy="988060"/>
            </a:xfrm>
            <a:custGeom>
              <a:avLst/>
              <a:gdLst/>
              <a:ahLst/>
              <a:cxnLst/>
              <a:rect l="l" t="t" r="r" b="b"/>
              <a:pathLst>
                <a:path w="2962909" h="988060">
                  <a:moveTo>
                    <a:pt x="989101" y="0"/>
                  </a:moveTo>
                  <a:lnTo>
                    <a:pt x="0" y="987894"/>
                  </a:lnTo>
                  <a:lnTo>
                    <a:pt x="989101" y="987894"/>
                  </a:lnTo>
                  <a:lnTo>
                    <a:pt x="989101" y="0"/>
                  </a:lnTo>
                  <a:close/>
                </a:path>
                <a:path w="2962909" h="988060">
                  <a:moveTo>
                    <a:pt x="2962833" y="987894"/>
                  </a:moveTo>
                  <a:lnTo>
                    <a:pt x="1973732" y="0"/>
                  </a:lnTo>
                  <a:lnTo>
                    <a:pt x="1973732" y="987894"/>
                  </a:lnTo>
                  <a:lnTo>
                    <a:pt x="2962833" y="98789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70273" y="3903669"/>
              <a:ext cx="989330" cy="988060"/>
            </a:xfrm>
            <a:custGeom>
              <a:avLst/>
              <a:gdLst/>
              <a:ahLst/>
              <a:cxnLst/>
              <a:rect l="l" t="t" r="r" b="b"/>
              <a:pathLst>
                <a:path w="989329" h="988060">
                  <a:moveTo>
                    <a:pt x="989099" y="987899"/>
                  </a:moveTo>
                  <a:lnTo>
                    <a:pt x="0" y="987899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987899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54757" y="3903682"/>
              <a:ext cx="989330" cy="988060"/>
            </a:xfrm>
            <a:custGeom>
              <a:avLst/>
              <a:gdLst/>
              <a:ahLst/>
              <a:cxnLst/>
              <a:rect l="l" t="t" r="r" b="b"/>
              <a:pathLst>
                <a:path w="989329" h="988060">
                  <a:moveTo>
                    <a:pt x="989099" y="987899"/>
                  </a:moveTo>
                  <a:lnTo>
                    <a:pt x="0" y="0"/>
                  </a:lnTo>
                  <a:lnTo>
                    <a:pt x="989099" y="0"/>
                  </a:lnTo>
                  <a:lnTo>
                    <a:pt x="989099" y="9878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4891594"/>
              <a:ext cx="9144000" cy="252095"/>
            </a:xfrm>
            <a:custGeom>
              <a:avLst/>
              <a:gdLst/>
              <a:ahLst/>
              <a:cxnLst/>
              <a:rect l="l" t="t" r="r" b="b"/>
              <a:pathLst>
                <a:path w="9144000" h="252095">
                  <a:moveTo>
                    <a:pt x="9143999" y="251999"/>
                  </a:moveTo>
                  <a:lnTo>
                    <a:pt x="0" y="2519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1999"/>
                  </a:lnTo>
                  <a:close/>
                </a:path>
              </a:pathLst>
            </a:custGeom>
            <a:solidFill>
              <a:srgbClr val="2A3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94574" y="238549"/>
              <a:ext cx="3843654" cy="477520"/>
            </a:xfrm>
            <a:custGeom>
              <a:avLst/>
              <a:gdLst/>
              <a:ahLst/>
              <a:cxnLst/>
              <a:rect l="l" t="t" r="r" b="b"/>
              <a:pathLst>
                <a:path w="3843654" h="477520">
                  <a:moveTo>
                    <a:pt x="3843599" y="476999"/>
                  </a:moveTo>
                  <a:lnTo>
                    <a:pt x="0" y="476999"/>
                  </a:lnTo>
                  <a:lnTo>
                    <a:pt x="0" y="0"/>
                  </a:lnTo>
                  <a:lnTo>
                    <a:pt x="3843599" y="0"/>
                  </a:lnTo>
                  <a:lnTo>
                    <a:pt x="3843599" y="47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80300" y="332106"/>
              <a:ext cx="300385" cy="282715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594574" y="238549"/>
            <a:ext cx="3843654" cy="47752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445770">
              <a:lnSpc>
                <a:spcPct val="100000"/>
              </a:lnSpc>
              <a:spcBef>
                <a:spcPts val="600"/>
              </a:spcBef>
            </a:pPr>
            <a:r>
              <a:rPr dirty="0"/>
              <a:t>Non</a:t>
            </a:r>
            <a:r>
              <a:rPr spc="-65" dirty="0"/>
              <a:t> </a:t>
            </a:r>
            <a:r>
              <a:rPr spc="-10" dirty="0"/>
              <a:t>Functional</a:t>
            </a:r>
            <a:r>
              <a:rPr spc="-60" dirty="0"/>
              <a:t> </a:t>
            </a:r>
            <a:r>
              <a:rPr spc="-10" dirty="0"/>
              <a:t>Requirements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36962" y="968799"/>
            <a:ext cx="2890520" cy="12807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74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10"/>
              </a:spcBef>
            </a:pPr>
            <a:r>
              <a:rPr sz="1600" spc="-10" dirty="0">
                <a:latin typeface="Roboto Lt"/>
                <a:cs typeface="Roboto Lt"/>
              </a:rPr>
              <a:t>Eﬃciency</a:t>
            </a:r>
            <a:r>
              <a:rPr sz="1600" spc="-35" dirty="0">
                <a:latin typeface="Roboto Lt"/>
                <a:cs typeface="Roboto Lt"/>
              </a:rPr>
              <a:t> </a:t>
            </a:r>
            <a:r>
              <a:rPr sz="1600" spc="-10" dirty="0">
                <a:latin typeface="Roboto Lt"/>
                <a:cs typeface="Roboto Lt"/>
              </a:rPr>
              <a:t>Requirements:</a:t>
            </a:r>
            <a:endParaRPr sz="1600">
              <a:latin typeface="Roboto Lt"/>
              <a:cs typeface="Roboto Lt"/>
            </a:endParaRPr>
          </a:p>
          <a:p>
            <a:pPr marL="542290" indent="-427990">
              <a:lnSpc>
                <a:spcPct val="100000"/>
              </a:lnSpc>
              <a:spcBef>
                <a:spcPts val="290"/>
              </a:spcBef>
              <a:buFont typeface="MS PGothic"/>
              <a:buChar char="➔"/>
              <a:tabLst>
                <a:tab pos="542290" algn="l"/>
              </a:tabLst>
            </a:pPr>
            <a:r>
              <a:rPr sz="1600" spc="-10" dirty="0">
                <a:latin typeface="Roboto"/>
                <a:cs typeface="Roboto"/>
              </a:rPr>
              <a:t>Eﬃcient</a:t>
            </a:r>
            <a:r>
              <a:rPr sz="1600" spc="-70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load</a:t>
            </a:r>
            <a:r>
              <a:rPr sz="1600" spc="-65" dirty="0">
                <a:latin typeface="Roboto"/>
                <a:cs typeface="Roboto"/>
              </a:rPr>
              <a:t> </a:t>
            </a:r>
            <a:r>
              <a:rPr sz="1600" spc="-20" dirty="0">
                <a:latin typeface="Roboto"/>
                <a:cs typeface="Roboto"/>
              </a:rPr>
              <a:t>time</a:t>
            </a:r>
            <a:endParaRPr sz="1600">
              <a:latin typeface="Roboto"/>
              <a:cs typeface="Roboto"/>
            </a:endParaRPr>
          </a:p>
          <a:p>
            <a:pPr marL="542290" indent="-427990">
              <a:lnSpc>
                <a:spcPct val="100000"/>
              </a:lnSpc>
              <a:spcBef>
                <a:spcPts val="285"/>
              </a:spcBef>
              <a:buFont typeface="MS PGothic"/>
              <a:buChar char="➔"/>
              <a:tabLst>
                <a:tab pos="542290" algn="l"/>
              </a:tabLst>
            </a:pPr>
            <a:r>
              <a:rPr sz="1600" spc="-10" dirty="0">
                <a:latin typeface="Roboto"/>
                <a:cs typeface="Roboto"/>
              </a:rPr>
              <a:t>Light</a:t>
            </a:r>
            <a:r>
              <a:rPr sz="1600" spc="-65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fast</a:t>
            </a:r>
            <a:r>
              <a:rPr sz="1600" spc="-65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UI</a:t>
            </a:r>
            <a:r>
              <a:rPr sz="1600" spc="-65" dirty="0">
                <a:latin typeface="Roboto"/>
                <a:cs typeface="Roboto"/>
              </a:rPr>
              <a:t> </a:t>
            </a:r>
            <a:r>
              <a:rPr sz="1600" spc="-20" dirty="0">
                <a:latin typeface="Roboto"/>
                <a:cs typeface="Roboto"/>
              </a:rPr>
              <a:t>load</a:t>
            </a:r>
            <a:endParaRPr sz="1600">
              <a:latin typeface="Roboto"/>
              <a:cs typeface="Roboto"/>
            </a:endParaRPr>
          </a:p>
          <a:p>
            <a:pPr marL="542290" indent="-427990">
              <a:lnSpc>
                <a:spcPct val="100000"/>
              </a:lnSpc>
              <a:spcBef>
                <a:spcPts val="290"/>
              </a:spcBef>
              <a:buFont typeface="MS PGothic"/>
              <a:buChar char="➔"/>
              <a:tabLst>
                <a:tab pos="542290" algn="l"/>
              </a:tabLst>
            </a:pPr>
            <a:r>
              <a:rPr sz="1600" spc="-10" dirty="0">
                <a:latin typeface="Roboto"/>
                <a:cs typeface="Roboto"/>
              </a:rPr>
              <a:t>Eﬃcient</a:t>
            </a:r>
            <a:r>
              <a:rPr sz="1600" spc="-45" dirty="0">
                <a:latin typeface="Roboto"/>
                <a:cs typeface="Roboto"/>
              </a:rPr>
              <a:t> </a:t>
            </a:r>
            <a:r>
              <a:rPr sz="1600" spc="-20" dirty="0">
                <a:latin typeface="Roboto"/>
                <a:cs typeface="Roboto"/>
              </a:rPr>
              <a:t>algorithm</a:t>
            </a:r>
            <a:r>
              <a:rPr sz="1600" spc="-40" dirty="0">
                <a:latin typeface="Roboto"/>
                <a:cs typeface="Roboto"/>
              </a:rPr>
              <a:t> </a:t>
            </a:r>
            <a:r>
              <a:rPr sz="1600" spc="-20" dirty="0">
                <a:latin typeface="Roboto"/>
                <a:cs typeface="Roboto"/>
              </a:rPr>
              <a:t>used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6975" y="2610799"/>
            <a:ext cx="2890520" cy="12807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74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10"/>
              </a:spcBef>
            </a:pPr>
            <a:r>
              <a:rPr sz="1600" spc="-10" dirty="0">
                <a:latin typeface="Roboto Lt"/>
                <a:cs typeface="Roboto Lt"/>
              </a:rPr>
              <a:t>Portability</a:t>
            </a:r>
            <a:r>
              <a:rPr sz="1600" spc="-75" dirty="0">
                <a:latin typeface="Roboto Lt"/>
                <a:cs typeface="Roboto Lt"/>
              </a:rPr>
              <a:t> </a:t>
            </a:r>
            <a:r>
              <a:rPr sz="1600" spc="-10" dirty="0">
                <a:latin typeface="Roboto Lt"/>
                <a:cs typeface="Roboto Lt"/>
              </a:rPr>
              <a:t>Requirements:</a:t>
            </a:r>
            <a:endParaRPr sz="1600">
              <a:latin typeface="Roboto Lt"/>
              <a:cs typeface="Roboto Lt"/>
            </a:endParaRPr>
          </a:p>
          <a:p>
            <a:pPr marL="542290" indent="-427990">
              <a:lnSpc>
                <a:spcPct val="100000"/>
              </a:lnSpc>
              <a:spcBef>
                <a:spcPts val="285"/>
              </a:spcBef>
              <a:buFont typeface="MS PGothic"/>
              <a:buChar char="➔"/>
              <a:tabLst>
                <a:tab pos="542290" algn="l"/>
              </a:tabLst>
            </a:pPr>
            <a:r>
              <a:rPr sz="1600" dirty="0">
                <a:latin typeface="Roboto"/>
                <a:cs typeface="Roboto"/>
              </a:rPr>
              <a:t>Any</a:t>
            </a:r>
            <a:r>
              <a:rPr sz="1600" spc="-50" dirty="0">
                <a:latin typeface="Roboto"/>
                <a:cs typeface="Roboto"/>
              </a:rPr>
              <a:t> </a:t>
            </a:r>
            <a:r>
              <a:rPr sz="1600" spc="-20" dirty="0">
                <a:latin typeface="Roboto"/>
                <a:cs typeface="Roboto"/>
              </a:rPr>
              <a:t>windows</a:t>
            </a:r>
            <a:r>
              <a:rPr sz="1600" spc="-4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support</a:t>
            </a:r>
            <a:endParaRPr sz="1600">
              <a:latin typeface="Roboto"/>
              <a:cs typeface="Roboto"/>
            </a:endParaRPr>
          </a:p>
          <a:p>
            <a:pPr marL="542290" indent="-427990">
              <a:lnSpc>
                <a:spcPct val="100000"/>
              </a:lnSpc>
              <a:spcBef>
                <a:spcPts val="290"/>
              </a:spcBef>
              <a:buFont typeface="MS PGothic"/>
              <a:buChar char="➔"/>
              <a:tabLst>
                <a:tab pos="542290" algn="l"/>
              </a:tabLst>
            </a:pPr>
            <a:r>
              <a:rPr sz="1600" dirty="0">
                <a:latin typeface="Roboto"/>
                <a:cs typeface="Roboto"/>
              </a:rPr>
              <a:t>Low</a:t>
            </a:r>
            <a:r>
              <a:rPr sz="1600" spc="-35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conﬁg</a:t>
            </a:r>
            <a:r>
              <a:rPr sz="1600" spc="-35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PC</a:t>
            </a:r>
            <a:r>
              <a:rPr sz="1600" spc="-3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support</a:t>
            </a:r>
            <a:endParaRPr sz="1600">
              <a:latin typeface="Roboto"/>
              <a:cs typeface="Roboto"/>
            </a:endParaRPr>
          </a:p>
          <a:p>
            <a:pPr marL="542290" indent="-427990">
              <a:lnSpc>
                <a:spcPct val="100000"/>
              </a:lnSpc>
              <a:spcBef>
                <a:spcPts val="290"/>
              </a:spcBef>
              <a:buFont typeface="MS PGothic"/>
              <a:buChar char="➔"/>
              <a:tabLst>
                <a:tab pos="542290" algn="l"/>
              </a:tabLst>
            </a:pPr>
            <a:r>
              <a:rPr sz="1600" spc="-25" dirty="0">
                <a:latin typeface="Roboto"/>
                <a:cs typeface="Roboto"/>
              </a:rPr>
              <a:t>Transferable</a:t>
            </a:r>
            <a:r>
              <a:rPr sz="1600" spc="-3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installer</a:t>
            </a:r>
            <a:r>
              <a:rPr sz="1600" spc="-35" dirty="0">
                <a:latin typeface="Roboto"/>
                <a:cs typeface="Roboto"/>
              </a:rPr>
              <a:t> </a:t>
            </a:r>
            <a:r>
              <a:rPr sz="1600" spc="-25" dirty="0">
                <a:latin typeface="Roboto"/>
                <a:cs typeface="Roboto"/>
              </a:rPr>
              <a:t>ﬁle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37574" y="968799"/>
            <a:ext cx="2890520" cy="156400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74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10"/>
              </a:spcBef>
            </a:pPr>
            <a:r>
              <a:rPr sz="1600" spc="-10" dirty="0">
                <a:latin typeface="Roboto Lt"/>
                <a:cs typeface="Roboto Lt"/>
              </a:rPr>
              <a:t>Security</a:t>
            </a:r>
            <a:r>
              <a:rPr sz="1600" spc="-80" dirty="0">
                <a:latin typeface="Roboto Lt"/>
                <a:cs typeface="Roboto Lt"/>
              </a:rPr>
              <a:t> </a:t>
            </a:r>
            <a:r>
              <a:rPr sz="1600" spc="-10" dirty="0">
                <a:latin typeface="Roboto Lt"/>
                <a:cs typeface="Roboto Lt"/>
              </a:rPr>
              <a:t>requirements:</a:t>
            </a:r>
            <a:endParaRPr sz="1600">
              <a:latin typeface="Roboto Lt"/>
              <a:cs typeface="Roboto Lt"/>
            </a:endParaRPr>
          </a:p>
          <a:p>
            <a:pPr marL="542290" indent="-427990">
              <a:lnSpc>
                <a:spcPct val="100000"/>
              </a:lnSpc>
              <a:spcBef>
                <a:spcPts val="290"/>
              </a:spcBef>
              <a:buFont typeface="MS PGothic"/>
              <a:buChar char="➔"/>
              <a:tabLst>
                <a:tab pos="542290" algn="l"/>
              </a:tabLst>
            </a:pPr>
            <a:r>
              <a:rPr sz="1600" spc="-10" dirty="0">
                <a:latin typeface="Roboto"/>
                <a:cs typeface="Roboto"/>
              </a:rPr>
              <a:t>Secured</a:t>
            </a:r>
            <a:r>
              <a:rPr sz="1600" spc="-6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Language</a:t>
            </a:r>
            <a:endParaRPr sz="1600">
              <a:latin typeface="Roboto"/>
              <a:cs typeface="Roboto"/>
            </a:endParaRPr>
          </a:p>
          <a:p>
            <a:pPr marL="542290" indent="-427990">
              <a:lnSpc>
                <a:spcPct val="100000"/>
              </a:lnSpc>
              <a:spcBef>
                <a:spcPts val="285"/>
              </a:spcBef>
              <a:buFont typeface="MS PGothic"/>
              <a:buChar char="➔"/>
              <a:tabLst>
                <a:tab pos="542290" algn="l"/>
              </a:tabLst>
            </a:pPr>
            <a:r>
              <a:rPr sz="1600" dirty="0">
                <a:latin typeface="Roboto"/>
                <a:cs typeface="Roboto"/>
              </a:rPr>
              <a:t>Needs</a:t>
            </a:r>
            <a:r>
              <a:rPr sz="1600" spc="-35" dirty="0">
                <a:latin typeface="Roboto"/>
                <a:cs typeface="Roboto"/>
              </a:rPr>
              <a:t> </a:t>
            </a:r>
            <a:r>
              <a:rPr sz="1600" spc="-20" dirty="0">
                <a:latin typeface="Roboto"/>
                <a:cs typeface="Roboto"/>
              </a:rPr>
              <a:t>password</a:t>
            </a:r>
            <a:r>
              <a:rPr sz="1600" spc="-30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to</a:t>
            </a:r>
            <a:r>
              <a:rPr sz="1600" spc="-3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login</a:t>
            </a:r>
            <a:endParaRPr sz="1600">
              <a:latin typeface="Roboto"/>
              <a:cs typeface="Roboto"/>
            </a:endParaRPr>
          </a:p>
          <a:p>
            <a:pPr marL="542925" marR="695960" indent="-428625">
              <a:lnSpc>
                <a:spcPct val="114999"/>
              </a:lnSpc>
              <a:buFont typeface="MS PGothic"/>
              <a:buChar char="➔"/>
              <a:tabLst>
                <a:tab pos="542925" algn="l"/>
              </a:tabLst>
            </a:pPr>
            <a:r>
              <a:rPr sz="1600" spc="-10" dirty="0">
                <a:latin typeface="Roboto"/>
                <a:cs typeface="Roboto"/>
              </a:rPr>
              <a:t>Secured</a:t>
            </a:r>
            <a:r>
              <a:rPr sz="1600" spc="-6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Database Connectivity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27212" y="2823674"/>
            <a:ext cx="2910840" cy="12807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74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10"/>
              </a:spcBef>
            </a:pPr>
            <a:r>
              <a:rPr sz="1600" spc="-20" dirty="0">
                <a:latin typeface="Roboto Lt"/>
                <a:cs typeface="Roboto Lt"/>
              </a:rPr>
              <a:t>Availability</a:t>
            </a:r>
            <a:r>
              <a:rPr sz="1600" spc="25" dirty="0">
                <a:latin typeface="Roboto Lt"/>
                <a:cs typeface="Roboto Lt"/>
              </a:rPr>
              <a:t> </a:t>
            </a:r>
            <a:r>
              <a:rPr sz="1600" spc="-10" dirty="0">
                <a:latin typeface="Roboto Lt"/>
                <a:cs typeface="Roboto Lt"/>
              </a:rPr>
              <a:t>requirements:</a:t>
            </a:r>
            <a:endParaRPr sz="1600">
              <a:latin typeface="Roboto Lt"/>
              <a:cs typeface="Roboto Lt"/>
            </a:endParaRPr>
          </a:p>
          <a:p>
            <a:pPr marL="542290" indent="-427990">
              <a:lnSpc>
                <a:spcPct val="100000"/>
              </a:lnSpc>
              <a:spcBef>
                <a:spcPts val="290"/>
              </a:spcBef>
              <a:buFont typeface="MS PGothic"/>
              <a:buChar char="➔"/>
              <a:tabLst>
                <a:tab pos="542290" algn="l"/>
              </a:tabLst>
            </a:pPr>
            <a:r>
              <a:rPr sz="1600" spc="-10" dirty="0">
                <a:latin typeface="Roboto"/>
                <a:cs typeface="Roboto"/>
              </a:rPr>
              <a:t>Available</a:t>
            </a:r>
            <a:r>
              <a:rPr sz="1600" spc="-40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24</a:t>
            </a:r>
            <a:r>
              <a:rPr sz="1600" spc="-35" dirty="0">
                <a:latin typeface="Roboto"/>
                <a:cs typeface="Roboto"/>
              </a:rPr>
              <a:t> </a:t>
            </a:r>
            <a:r>
              <a:rPr sz="1600" spc="-20" dirty="0">
                <a:latin typeface="Roboto"/>
                <a:cs typeface="Roboto"/>
              </a:rPr>
              <a:t>hour</a:t>
            </a:r>
            <a:endParaRPr sz="1600">
              <a:latin typeface="Roboto"/>
              <a:cs typeface="Roboto"/>
            </a:endParaRPr>
          </a:p>
          <a:p>
            <a:pPr marL="542290" indent="-427990">
              <a:lnSpc>
                <a:spcPct val="100000"/>
              </a:lnSpc>
              <a:spcBef>
                <a:spcPts val="285"/>
              </a:spcBef>
              <a:buFont typeface="MS PGothic"/>
              <a:buChar char="➔"/>
              <a:tabLst>
                <a:tab pos="542290" algn="l"/>
              </a:tabLst>
            </a:pPr>
            <a:r>
              <a:rPr sz="1600" spc="-10" dirty="0">
                <a:latin typeface="Roboto"/>
                <a:cs typeface="Roboto"/>
              </a:rPr>
              <a:t>Backup</a:t>
            </a:r>
            <a:r>
              <a:rPr sz="1600" spc="-80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server</a:t>
            </a:r>
            <a:endParaRPr sz="1600">
              <a:latin typeface="Roboto"/>
              <a:cs typeface="Roboto"/>
            </a:endParaRPr>
          </a:p>
          <a:p>
            <a:pPr marL="542290" indent="-427990">
              <a:lnSpc>
                <a:spcPct val="100000"/>
              </a:lnSpc>
              <a:spcBef>
                <a:spcPts val="290"/>
              </a:spcBef>
              <a:buFont typeface="MS PGothic"/>
              <a:buChar char="➔"/>
              <a:tabLst>
                <a:tab pos="542290" algn="l"/>
              </a:tabLst>
            </a:pPr>
            <a:r>
              <a:rPr sz="1600" spc="-10" dirty="0">
                <a:latin typeface="Roboto"/>
                <a:cs typeface="Roboto"/>
              </a:rPr>
              <a:t>Backup</a:t>
            </a:r>
            <a:r>
              <a:rPr sz="1600" spc="-75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power</a:t>
            </a:r>
            <a:r>
              <a:rPr sz="1600" spc="-7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supply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38174" y="968799"/>
            <a:ext cx="2630805" cy="156400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74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10"/>
              </a:spcBef>
            </a:pPr>
            <a:r>
              <a:rPr sz="1600" spc="-20" dirty="0">
                <a:latin typeface="Roboto Lt"/>
                <a:cs typeface="Roboto Lt"/>
              </a:rPr>
              <a:t>Scalability</a:t>
            </a:r>
            <a:r>
              <a:rPr sz="1600" spc="15" dirty="0">
                <a:latin typeface="Roboto Lt"/>
                <a:cs typeface="Roboto Lt"/>
              </a:rPr>
              <a:t> </a:t>
            </a:r>
            <a:r>
              <a:rPr sz="1600" spc="-10" dirty="0">
                <a:latin typeface="Roboto Lt"/>
                <a:cs typeface="Roboto Lt"/>
              </a:rPr>
              <a:t>requirements:</a:t>
            </a:r>
            <a:endParaRPr sz="1600">
              <a:latin typeface="Roboto Lt"/>
              <a:cs typeface="Roboto Lt"/>
            </a:endParaRPr>
          </a:p>
          <a:p>
            <a:pPr marL="542925" marR="222885" indent="-428625">
              <a:lnSpc>
                <a:spcPct val="114999"/>
              </a:lnSpc>
              <a:buFont typeface="MS PGothic"/>
              <a:buChar char="➔"/>
              <a:tabLst>
                <a:tab pos="542925" algn="l"/>
              </a:tabLst>
            </a:pPr>
            <a:r>
              <a:rPr sz="1600" dirty="0">
                <a:latin typeface="Roboto"/>
                <a:cs typeface="Roboto"/>
              </a:rPr>
              <a:t>Handles</a:t>
            </a:r>
            <a:r>
              <a:rPr sz="1600" spc="-6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users</a:t>
            </a:r>
            <a:r>
              <a:rPr sz="1600" spc="-60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at</a:t>
            </a:r>
            <a:r>
              <a:rPr sz="1600" spc="-65" dirty="0">
                <a:latin typeface="Roboto"/>
                <a:cs typeface="Roboto"/>
              </a:rPr>
              <a:t> </a:t>
            </a:r>
            <a:r>
              <a:rPr sz="1600" spc="-25" dirty="0">
                <a:latin typeface="Roboto"/>
                <a:cs typeface="Roboto"/>
              </a:rPr>
              <a:t>the </a:t>
            </a:r>
            <a:r>
              <a:rPr sz="1600" dirty="0">
                <a:latin typeface="Roboto"/>
                <a:cs typeface="Roboto"/>
              </a:rPr>
              <a:t>same</a:t>
            </a:r>
            <a:r>
              <a:rPr sz="1600" spc="-60" dirty="0">
                <a:latin typeface="Roboto"/>
                <a:cs typeface="Roboto"/>
              </a:rPr>
              <a:t> </a:t>
            </a:r>
            <a:r>
              <a:rPr sz="1600" spc="-20" dirty="0">
                <a:latin typeface="Roboto"/>
                <a:cs typeface="Roboto"/>
              </a:rPr>
              <a:t>time</a:t>
            </a:r>
            <a:endParaRPr sz="1600">
              <a:latin typeface="Roboto"/>
              <a:cs typeface="Roboto"/>
            </a:endParaRPr>
          </a:p>
          <a:p>
            <a:pPr marL="542290" indent="-427990">
              <a:lnSpc>
                <a:spcPct val="100000"/>
              </a:lnSpc>
              <a:spcBef>
                <a:spcPts val="290"/>
              </a:spcBef>
              <a:buFont typeface="MS PGothic"/>
              <a:buChar char="➔"/>
              <a:tabLst>
                <a:tab pos="542290" algn="l"/>
              </a:tabLst>
            </a:pPr>
            <a:r>
              <a:rPr sz="1600" spc="-10" dirty="0">
                <a:latin typeface="Roboto"/>
                <a:cs typeface="Roboto"/>
              </a:rPr>
              <a:t>Stores</a:t>
            </a:r>
            <a:r>
              <a:rPr sz="1600" spc="-90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data</a:t>
            </a:r>
            <a:r>
              <a:rPr sz="1600" spc="-8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frequently</a:t>
            </a:r>
            <a:endParaRPr sz="1600">
              <a:latin typeface="Roboto"/>
              <a:cs typeface="Roboto"/>
            </a:endParaRPr>
          </a:p>
          <a:p>
            <a:pPr marL="542290" indent="-427990">
              <a:lnSpc>
                <a:spcPct val="100000"/>
              </a:lnSpc>
              <a:spcBef>
                <a:spcPts val="285"/>
              </a:spcBef>
              <a:buFont typeface="MS PGothic"/>
              <a:buChar char="➔"/>
              <a:tabLst>
                <a:tab pos="542290" algn="l"/>
              </a:tabLst>
            </a:pPr>
            <a:r>
              <a:rPr sz="1600" dirty="0">
                <a:latin typeface="Roboto"/>
                <a:cs typeface="Roboto"/>
              </a:rPr>
              <a:t>Handles</a:t>
            </a:r>
            <a:r>
              <a:rPr sz="1600" spc="-9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exception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86175" y="2823674"/>
            <a:ext cx="2534920" cy="99758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74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10"/>
              </a:spcBef>
            </a:pPr>
            <a:r>
              <a:rPr sz="1600" spc="-10" dirty="0">
                <a:latin typeface="Roboto Lt"/>
                <a:cs typeface="Roboto Lt"/>
              </a:rPr>
              <a:t>Budget</a:t>
            </a:r>
            <a:r>
              <a:rPr sz="1600" spc="-50" dirty="0">
                <a:latin typeface="Roboto Lt"/>
                <a:cs typeface="Roboto Lt"/>
              </a:rPr>
              <a:t> </a:t>
            </a:r>
            <a:r>
              <a:rPr sz="1600" spc="-10" dirty="0">
                <a:latin typeface="Roboto Lt"/>
                <a:cs typeface="Roboto Lt"/>
              </a:rPr>
              <a:t>requirements:</a:t>
            </a:r>
            <a:endParaRPr sz="1600">
              <a:latin typeface="Roboto Lt"/>
              <a:cs typeface="Roboto Lt"/>
            </a:endParaRPr>
          </a:p>
          <a:p>
            <a:pPr marL="542290" indent="-427990">
              <a:lnSpc>
                <a:spcPct val="100000"/>
              </a:lnSpc>
              <a:spcBef>
                <a:spcPts val="290"/>
              </a:spcBef>
              <a:buFont typeface="MS PGothic"/>
              <a:buChar char="➔"/>
              <a:tabLst>
                <a:tab pos="542290" algn="l"/>
              </a:tabLst>
            </a:pPr>
            <a:r>
              <a:rPr sz="1600" spc="-10" dirty="0">
                <a:latin typeface="Roboto"/>
                <a:cs typeface="Roboto"/>
              </a:rPr>
              <a:t>Within</a:t>
            </a:r>
            <a:r>
              <a:rPr sz="1600" spc="-6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budget</a:t>
            </a:r>
            <a:endParaRPr sz="1600">
              <a:latin typeface="Roboto"/>
              <a:cs typeface="Roboto"/>
            </a:endParaRPr>
          </a:p>
          <a:p>
            <a:pPr marL="542290" indent="-427990">
              <a:lnSpc>
                <a:spcPct val="100000"/>
              </a:lnSpc>
              <a:spcBef>
                <a:spcPts val="285"/>
              </a:spcBef>
              <a:buFont typeface="MS PGothic"/>
              <a:buChar char="➔"/>
              <a:tabLst>
                <a:tab pos="542290" algn="l"/>
              </a:tabLst>
            </a:pPr>
            <a:r>
              <a:rPr sz="1600" dirty="0">
                <a:latin typeface="Roboto"/>
                <a:cs typeface="Roboto"/>
              </a:rPr>
              <a:t>Less</a:t>
            </a:r>
            <a:r>
              <a:rPr sz="1600" spc="-60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cost</a:t>
            </a:r>
            <a:r>
              <a:rPr sz="1600" spc="-55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in</a:t>
            </a:r>
            <a:r>
              <a:rPr sz="1600" spc="-5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future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4135"/>
            <a:chOff x="0" y="0"/>
            <a:chExt cx="9144000" cy="51441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181153" y="3903675"/>
              <a:ext cx="2962910" cy="988060"/>
            </a:xfrm>
            <a:custGeom>
              <a:avLst/>
              <a:gdLst/>
              <a:ahLst/>
              <a:cxnLst/>
              <a:rect l="l" t="t" r="r" b="b"/>
              <a:pathLst>
                <a:path w="2962909" h="988060">
                  <a:moveTo>
                    <a:pt x="989101" y="0"/>
                  </a:moveTo>
                  <a:lnTo>
                    <a:pt x="0" y="987894"/>
                  </a:lnTo>
                  <a:lnTo>
                    <a:pt x="989101" y="987894"/>
                  </a:lnTo>
                  <a:lnTo>
                    <a:pt x="989101" y="0"/>
                  </a:lnTo>
                  <a:close/>
                </a:path>
                <a:path w="2962909" h="988060">
                  <a:moveTo>
                    <a:pt x="2962833" y="987894"/>
                  </a:moveTo>
                  <a:lnTo>
                    <a:pt x="1973732" y="0"/>
                  </a:lnTo>
                  <a:lnTo>
                    <a:pt x="1973732" y="987894"/>
                  </a:lnTo>
                  <a:lnTo>
                    <a:pt x="2962833" y="98789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70273" y="3903669"/>
              <a:ext cx="989330" cy="988060"/>
            </a:xfrm>
            <a:custGeom>
              <a:avLst/>
              <a:gdLst/>
              <a:ahLst/>
              <a:cxnLst/>
              <a:rect l="l" t="t" r="r" b="b"/>
              <a:pathLst>
                <a:path w="989329" h="988060">
                  <a:moveTo>
                    <a:pt x="989099" y="987899"/>
                  </a:moveTo>
                  <a:lnTo>
                    <a:pt x="0" y="987899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987899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54757" y="3903682"/>
              <a:ext cx="989330" cy="988060"/>
            </a:xfrm>
            <a:custGeom>
              <a:avLst/>
              <a:gdLst/>
              <a:ahLst/>
              <a:cxnLst/>
              <a:rect l="l" t="t" r="r" b="b"/>
              <a:pathLst>
                <a:path w="989329" h="988060">
                  <a:moveTo>
                    <a:pt x="989099" y="987899"/>
                  </a:moveTo>
                  <a:lnTo>
                    <a:pt x="0" y="0"/>
                  </a:lnTo>
                  <a:lnTo>
                    <a:pt x="989099" y="0"/>
                  </a:lnTo>
                  <a:lnTo>
                    <a:pt x="989099" y="9878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4891594"/>
              <a:ext cx="9144000" cy="252095"/>
            </a:xfrm>
            <a:custGeom>
              <a:avLst/>
              <a:gdLst/>
              <a:ahLst/>
              <a:cxnLst/>
              <a:rect l="l" t="t" r="r" b="b"/>
              <a:pathLst>
                <a:path w="9144000" h="252095">
                  <a:moveTo>
                    <a:pt x="9143999" y="251999"/>
                  </a:moveTo>
                  <a:lnTo>
                    <a:pt x="0" y="2519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1999"/>
                  </a:lnTo>
                  <a:close/>
                </a:path>
              </a:pathLst>
            </a:custGeom>
            <a:solidFill>
              <a:srgbClr val="2A3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21775" y="1190649"/>
              <a:ext cx="4089400" cy="477520"/>
            </a:xfrm>
            <a:custGeom>
              <a:avLst/>
              <a:gdLst/>
              <a:ahLst/>
              <a:cxnLst/>
              <a:rect l="l" t="t" r="r" b="b"/>
              <a:pathLst>
                <a:path w="4089400" h="477519">
                  <a:moveTo>
                    <a:pt x="4088999" y="476999"/>
                  </a:moveTo>
                  <a:lnTo>
                    <a:pt x="0" y="476999"/>
                  </a:lnTo>
                  <a:lnTo>
                    <a:pt x="0" y="0"/>
                  </a:lnTo>
                  <a:lnTo>
                    <a:pt x="4088999" y="0"/>
                  </a:lnTo>
                  <a:lnTo>
                    <a:pt x="4088999" y="47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7500" y="1284206"/>
              <a:ext cx="300385" cy="282715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621775" y="1190649"/>
            <a:ext cx="4089400" cy="47752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445770">
              <a:lnSpc>
                <a:spcPct val="100000"/>
              </a:lnSpc>
              <a:spcBef>
                <a:spcPts val="600"/>
              </a:spcBef>
            </a:pPr>
            <a:r>
              <a:rPr dirty="0"/>
              <a:t>Overall</a:t>
            </a:r>
            <a:r>
              <a:rPr spc="-90" dirty="0"/>
              <a:t> </a:t>
            </a:r>
            <a:r>
              <a:rPr spc="-10" dirty="0"/>
              <a:t>Constraints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621775" y="1853500"/>
            <a:ext cx="4089400" cy="1178528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7470" rIns="0" bIns="0" rtlCol="0">
            <a:spAutoFit/>
          </a:bodyPr>
          <a:lstStyle/>
          <a:p>
            <a:pPr marL="542290" indent="-351155">
              <a:lnSpc>
                <a:spcPct val="100000"/>
              </a:lnSpc>
              <a:spcBef>
                <a:spcPts val="610"/>
              </a:spcBef>
              <a:buFont typeface="Arial MT"/>
              <a:buChar char="●"/>
              <a:tabLst>
                <a:tab pos="542290" algn="l"/>
              </a:tabLst>
            </a:pPr>
            <a:r>
              <a:rPr sz="1600" dirty="0">
                <a:latin typeface="Roboto"/>
                <a:cs typeface="Roboto"/>
              </a:rPr>
              <a:t>No</a:t>
            </a:r>
            <a:r>
              <a:rPr sz="1600" spc="-55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way</a:t>
            </a:r>
            <a:r>
              <a:rPr sz="1600" spc="-55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to</a:t>
            </a:r>
            <a:r>
              <a:rPr sz="1600" spc="-5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pay</a:t>
            </a:r>
            <a:r>
              <a:rPr sz="1600" spc="-5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online</a:t>
            </a:r>
            <a:endParaRPr sz="1600" dirty="0">
              <a:latin typeface="Roboto"/>
              <a:cs typeface="Roboto"/>
            </a:endParaRPr>
          </a:p>
          <a:p>
            <a:pPr marL="542290" indent="-351155">
              <a:lnSpc>
                <a:spcPct val="100000"/>
              </a:lnSpc>
              <a:spcBef>
                <a:spcPts val="285"/>
              </a:spcBef>
              <a:buFont typeface="Arial MT"/>
              <a:buChar char="●"/>
              <a:tabLst>
                <a:tab pos="542290" algn="l"/>
              </a:tabLst>
            </a:pPr>
            <a:r>
              <a:rPr sz="1600" dirty="0">
                <a:latin typeface="Roboto"/>
                <a:cs typeface="Roboto"/>
              </a:rPr>
              <a:t>No</a:t>
            </a:r>
            <a:r>
              <a:rPr sz="1600" spc="-5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android,</a:t>
            </a:r>
            <a:r>
              <a:rPr sz="1600" spc="-45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IOS</a:t>
            </a:r>
            <a:r>
              <a:rPr sz="1600" spc="-45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or</a:t>
            </a:r>
            <a:r>
              <a:rPr sz="1600" spc="-45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web</a:t>
            </a:r>
            <a:r>
              <a:rPr sz="1600" spc="-4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application</a:t>
            </a:r>
            <a:endParaRPr sz="1600" dirty="0">
              <a:latin typeface="Roboto"/>
              <a:cs typeface="Roboto"/>
            </a:endParaRPr>
          </a:p>
          <a:p>
            <a:pPr marL="542290" indent="-351155">
              <a:lnSpc>
                <a:spcPct val="100000"/>
              </a:lnSpc>
              <a:spcBef>
                <a:spcPts val="290"/>
              </a:spcBef>
              <a:buFont typeface="Arial MT"/>
              <a:buChar char="●"/>
              <a:tabLst>
                <a:tab pos="542290" algn="l"/>
              </a:tabLst>
            </a:pPr>
            <a:r>
              <a:rPr sz="1600" spc="-10" dirty="0">
                <a:latin typeface="Roboto"/>
                <a:cs typeface="Roboto"/>
              </a:rPr>
              <a:t>Only</a:t>
            </a:r>
            <a:r>
              <a:rPr sz="1600" spc="-60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works</a:t>
            </a:r>
            <a:r>
              <a:rPr sz="1600" spc="-60" dirty="0">
                <a:latin typeface="Roboto"/>
                <a:cs typeface="Roboto"/>
              </a:rPr>
              <a:t> </a:t>
            </a:r>
            <a:r>
              <a:rPr sz="1600" dirty="0">
                <a:latin typeface="Roboto"/>
                <a:cs typeface="Roboto"/>
              </a:rPr>
              <a:t>in</a:t>
            </a:r>
            <a:r>
              <a:rPr sz="1600" spc="-5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Windows</a:t>
            </a:r>
            <a:r>
              <a:rPr sz="1600" spc="-60" dirty="0">
                <a:latin typeface="Roboto"/>
                <a:cs typeface="Roboto"/>
              </a:rPr>
              <a:t> </a:t>
            </a:r>
            <a:r>
              <a:rPr sz="1600" spc="-25" dirty="0">
                <a:latin typeface="Roboto"/>
                <a:cs typeface="Roboto"/>
              </a:rPr>
              <a:t>OS</a:t>
            </a:r>
            <a:endParaRPr lang="en-IN" sz="1600" spc="-25" dirty="0">
              <a:latin typeface="Roboto"/>
              <a:cs typeface="Roboto"/>
            </a:endParaRPr>
          </a:p>
          <a:p>
            <a:pPr marL="542290" indent="-351155">
              <a:lnSpc>
                <a:spcPct val="100000"/>
              </a:lnSpc>
              <a:spcBef>
                <a:spcPts val="290"/>
              </a:spcBef>
              <a:buFont typeface="Arial MT"/>
              <a:buChar char="●"/>
              <a:tabLst>
                <a:tab pos="542290" algn="l"/>
              </a:tabLst>
            </a:pPr>
            <a:r>
              <a:rPr lang="en-IN" sz="1600" spc="-25" dirty="0">
                <a:latin typeface="Roboto"/>
                <a:cs typeface="Roboto"/>
              </a:rPr>
              <a:t>No internet required</a:t>
            </a:r>
            <a:endParaRPr sz="1600" dirty="0">
              <a:latin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0EDDF9-BAED-9A09-5C19-53B1A6BEF3BF}"/>
              </a:ext>
            </a:extLst>
          </p:cNvPr>
          <p:cNvSpPr txBox="1"/>
          <p:nvPr/>
        </p:nvSpPr>
        <p:spPr>
          <a:xfrm>
            <a:off x="1676400" y="1047750"/>
            <a:ext cx="50292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</a:t>
            </a:r>
            <a:r>
              <a:rPr lang="en-IN" sz="3200" dirty="0"/>
              <a:t>Module of Application</a:t>
            </a:r>
            <a:endParaRPr lang="en-IN" dirty="0"/>
          </a:p>
          <a:p>
            <a:endParaRPr lang="en-IN" dirty="0"/>
          </a:p>
          <a:p>
            <a:r>
              <a:rPr lang="en-IN" sz="2000" dirty="0"/>
              <a:t>1.Customer Details</a:t>
            </a:r>
          </a:p>
          <a:p>
            <a:r>
              <a:rPr lang="en-IN" sz="2000" dirty="0"/>
              <a:t>2.Room Booked Details</a:t>
            </a:r>
          </a:p>
          <a:p>
            <a:r>
              <a:rPr lang="en-IN" sz="2000" dirty="0"/>
              <a:t>3.Room Details</a:t>
            </a:r>
          </a:p>
          <a:p>
            <a:r>
              <a:rPr lang="en-IN" sz="2000" dirty="0"/>
              <a:t>4.About us</a:t>
            </a:r>
          </a:p>
          <a:p>
            <a:r>
              <a:rPr lang="en-IN" sz="2000" dirty="0"/>
              <a:t>5.Log out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5118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4135"/>
            <a:chOff x="0" y="0"/>
            <a:chExt cx="9144000" cy="51441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181153" y="3903675"/>
              <a:ext cx="2962910" cy="988060"/>
            </a:xfrm>
            <a:custGeom>
              <a:avLst/>
              <a:gdLst/>
              <a:ahLst/>
              <a:cxnLst/>
              <a:rect l="l" t="t" r="r" b="b"/>
              <a:pathLst>
                <a:path w="2962909" h="988060">
                  <a:moveTo>
                    <a:pt x="989101" y="0"/>
                  </a:moveTo>
                  <a:lnTo>
                    <a:pt x="0" y="987894"/>
                  </a:lnTo>
                  <a:lnTo>
                    <a:pt x="989101" y="987894"/>
                  </a:lnTo>
                  <a:lnTo>
                    <a:pt x="989101" y="0"/>
                  </a:lnTo>
                  <a:close/>
                </a:path>
                <a:path w="2962909" h="988060">
                  <a:moveTo>
                    <a:pt x="2962833" y="987894"/>
                  </a:moveTo>
                  <a:lnTo>
                    <a:pt x="1973732" y="0"/>
                  </a:lnTo>
                  <a:lnTo>
                    <a:pt x="1973732" y="987894"/>
                  </a:lnTo>
                  <a:lnTo>
                    <a:pt x="2962833" y="98789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70273" y="3903669"/>
              <a:ext cx="989330" cy="988060"/>
            </a:xfrm>
            <a:custGeom>
              <a:avLst/>
              <a:gdLst/>
              <a:ahLst/>
              <a:cxnLst/>
              <a:rect l="l" t="t" r="r" b="b"/>
              <a:pathLst>
                <a:path w="989329" h="988060">
                  <a:moveTo>
                    <a:pt x="989099" y="987899"/>
                  </a:moveTo>
                  <a:lnTo>
                    <a:pt x="0" y="987899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987899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54757" y="3903682"/>
              <a:ext cx="989330" cy="988060"/>
            </a:xfrm>
            <a:custGeom>
              <a:avLst/>
              <a:gdLst/>
              <a:ahLst/>
              <a:cxnLst/>
              <a:rect l="l" t="t" r="r" b="b"/>
              <a:pathLst>
                <a:path w="989329" h="988060">
                  <a:moveTo>
                    <a:pt x="989099" y="987899"/>
                  </a:moveTo>
                  <a:lnTo>
                    <a:pt x="0" y="0"/>
                  </a:lnTo>
                  <a:lnTo>
                    <a:pt x="989099" y="0"/>
                  </a:lnTo>
                  <a:lnTo>
                    <a:pt x="989099" y="9878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4891594"/>
              <a:ext cx="9144000" cy="252095"/>
            </a:xfrm>
            <a:custGeom>
              <a:avLst/>
              <a:gdLst/>
              <a:ahLst/>
              <a:cxnLst/>
              <a:rect l="l" t="t" r="r" b="b"/>
              <a:pathLst>
                <a:path w="9144000" h="252095">
                  <a:moveTo>
                    <a:pt x="9143999" y="251999"/>
                  </a:moveTo>
                  <a:lnTo>
                    <a:pt x="0" y="2519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251999"/>
                  </a:lnTo>
                  <a:close/>
                </a:path>
              </a:pathLst>
            </a:custGeom>
            <a:solidFill>
              <a:srgbClr val="2A3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4649" y="2108224"/>
              <a:ext cx="2251710" cy="615950"/>
            </a:xfrm>
            <a:custGeom>
              <a:avLst/>
              <a:gdLst/>
              <a:ahLst/>
              <a:cxnLst/>
              <a:rect l="l" t="t" r="r" b="b"/>
              <a:pathLst>
                <a:path w="2251710" h="615950">
                  <a:moveTo>
                    <a:pt x="2251499" y="615599"/>
                  </a:moveTo>
                  <a:lnTo>
                    <a:pt x="0" y="615599"/>
                  </a:lnTo>
                  <a:lnTo>
                    <a:pt x="0" y="0"/>
                  </a:lnTo>
                  <a:lnTo>
                    <a:pt x="2251499" y="0"/>
                  </a:lnTo>
                  <a:lnTo>
                    <a:pt x="2251499" y="615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0375" y="2199778"/>
              <a:ext cx="221258" cy="208243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54649" y="2108224"/>
            <a:ext cx="2251710" cy="61595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0520">
              <a:lnSpc>
                <a:spcPct val="100000"/>
              </a:lnSpc>
              <a:spcBef>
                <a:spcPts val="620"/>
              </a:spcBef>
            </a:pPr>
            <a:r>
              <a:rPr sz="1400" dirty="0">
                <a:latin typeface="Roboto"/>
                <a:cs typeface="Roboto"/>
              </a:rPr>
              <a:t>Used</a:t>
            </a:r>
            <a:r>
              <a:rPr sz="1400" spc="-85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Database</a:t>
            </a:r>
            <a:endParaRPr sz="1400">
              <a:latin typeface="Roboto"/>
              <a:cs typeface="Roboto"/>
            </a:endParaRPr>
          </a:p>
          <a:p>
            <a:pPr marL="542290" indent="-408940">
              <a:lnSpc>
                <a:spcPct val="100000"/>
              </a:lnSpc>
              <a:buFont typeface="MS PGothic"/>
              <a:buChar char="➔"/>
              <a:tabLst>
                <a:tab pos="542290" algn="l"/>
              </a:tabLst>
            </a:pPr>
            <a:r>
              <a:rPr sz="1400" spc="-10" dirty="0">
                <a:latin typeface="Roboto"/>
                <a:cs typeface="Roboto"/>
              </a:rPr>
              <a:t>MySql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187199" y="1677275"/>
            <a:ext cx="4485640" cy="1046900"/>
            <a:chOff x="4187199" y="1677274"/>
            <a:chExt cx="4485640" cy="1477645"/>
          </a:xfrm>
        </p:grpSpPr>
        <p:sp>
          <p:nvSpPr>
            <p:cNvPr id="12" name="object 12"/>
            <p:cNvSpPr/>
            <p:nvPr/>
          </p:nvSpPr>
          <p:spPr>
            <a:xfrm>
              <a:off x="4187199" y="1677274"/>
              <a:ext cx="4485640" cy="1477645"/>
            </a:xfrm>
            <a:custGeom>
              <a:avLst/>
              <a:gdLst/>
              <a:ahLst/>
              <a:cxnLst/>
              <a:rect l="l" t="t" r="r" b="b"/>
              <a:pathLst>
                <a:path w="4485640" h="1477645">
                  <a:moveTo>
                    <a:pt x="4485599" y="1477499"/>
                  </a:moveTo>
                  <a:lnTo>
                    <a:pt x="0" y="1477499"/>
                  </a:lnTo>
                  <a:lnTo>
                    <a:pt x="0" y="0"/>
                  </a:lnTo>
                  <a:lnTo>
                    <a:pt x="4485599" y="0"/>
                  </a:lnTo>
                  <a:lnTo>
                    <a:pt x="4485599" y="1477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72924" y="1768828"/>
              <a:ext cx="221258" cy="208243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xfrm>
            <a:off x="4187199" y="1677274"/>
            <a:ext cx="4485640" cy="940642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0520">
              <a:lnSpc>
                <a:spcPct val="100000"/>
              </a:lnSpc>
              <a:spcBef>
                <a:spcPts val="615"/>
              </a:spcBef>
            </a:pPr>
            <a:r>
              <a:rPr spc="-10" dirty="0"/>
              <a:t>Entity</a:t>
            </a:r>
            <a:r>
              <a:rPr spc="-75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spc="-10" dirty="0"/>
              <a:t>Usage</a:t>
            </a:r>
            <a:r>
              <a:rPr spc="-70" dirty="0"/>
              <a:t> </a:t>
            </a:r>
            <a:r>
              <a:rPr spc="-10" dirty="0"/>
              <a:t>Reason:</a:t>
            </a:r>
          </a:p>
          <a:p>
            <a:pPr marL="542290" indent="-408940">
              <a:lnSpc>
                <a:spcPct val="100000"/>
              </a:lnSpc>
              <a:spcBef>
                <a:spcPts val="5"/>
              </a:spcBef>
              <a:buFont typeface="MS PGothic"/>
              <a:buChar char="❖"/>
              <a:tabLst>
                <a:tab pos="542290" algn="l"/>
              </a:tabLst>
            </a:pPr>
            <a:r>
              <a:rPr lang="en-IN" spc="-10" dirty="0"/>
              <a:t>Details</a:t>
            </a:r>
            <a:r>
              <a:rPr spc="-10" dirty="0"/>
              <a:t>Info:</a:t>
            </a:r>
            <a:r>
              <a:rPr spc="-80" dirty="0"/>
              <a:t> </a:t>
            </a:r>
            <a:r>
              <a:rPr spc="-10" dirty="0"/>
              <a:t>To</a:t>
            </a:r>
            <a:r>
              <a:rPr spc="-50" dirty="0"/>
              <a:t> </a:t>
            </a:r>
            <a:r>
              <a:rPr spc="-10" dirty="0"/>
              <a:t>store</a:t>
            </a:r>
            <a:r>
              <a:rPr spc="-55" dirty="0"/>
              <a:t> </a:t>
            </a:r>
            <a:r>
              <a:rPr lang="en-IN" spc="-55" dirty="0"/>
              <a:t>hotel Room</a:t>
            </a:r>
            <a:r>
              <a:rPr spc="-55" dirty="0"/>
              <a:t> </a:t>
            </a:r>
            <a:r>
              <a:rPr spc="-20" dirty="0"/>
              <a:t>Info</a:t>
            </a:r>
          </a:p>
          <a:p>
            <a:pPr marL="542290" indent="-408940">
              <a:lnSpc>
                <a:spcPct val="100000"/>
              </a:lnSpc>
              <a:buFont typeface="MS PGothic"/>
              <a:buChar char="❖"/>
              <a:tabLst>
                <a:tab pos="542290" algn="l"/>
              </a:tabLst>
            </a:pPr>
            <a:r>
              <a:rPr spc="-20" dirty="0"/>
              <a:t>CustomerInfo:</a:t>
            </a:r>
            <a:r>
              <a:rPr spc="-55" dirty="0"/>
              <a:t> </a:t>
            </a:r>
            <a:r>
              <a:rPr spc="-10" dirty="0"/>
              <a:t>To</a:t>
            </a:r>
            <a:r>
              <a:rPr spc="-35" dirty="0"/>
              <a:t> </a:t>
            </a:r>
            <a:r>
              <a:rPr spc="-10" dirty="0"/>
              <a:t>Store</a:t>
            </a:r>
            <a:r>
              <a:rPr spc="-30" dirty="0"/>
              <a:t> </a:t>
            </a:r>
            <a:r>
              <a:rPr spc="-10" dirty="0"/>
              <a:t>Customer</a:t>
            </a:r>
            <a:r>
              <a:rPr spc="-35" dirty="0"/>
              <a:t> </a:t>
            </a:r>
            <a:r>
              <a:rPr spc="-20" dirty="0"/>
              <a:t>Info</a:t>
            </a:r>
          </a:p>
          <a:p>
            <a:pPr marL="542290" indent="-408940">
              <a:lnSpc>
                <a:spcPct val="100000"/>
              </a:lnSpc>
              <a:buFont typeface="MS PGothic"/>
              <a:buChar char="❖"/>
              <a:tabLst>
                <a:tab pos="542290" algn="l"/>
              </a:tabLst>
            </a:pPr>
            <a:r>
              <a:rPr spc="-10" dirty="0"/>
              <a:t>RoomInfo:</a:t>
            </a:r>
            <a:r>
              <a:rPr spc="-75" dirty="0"/>
              <a:t> </a:t>
            </a:r>
            <a:r>
              <a:rPr spc="-10" dirty="0"/>
              <a:t>To</a:t>
            </a:r>
            <a:r>
              <a:rPr spc="-55" dirty="0"/>
              <a:t> </a:t>
            </a:r>
            <a:r>
              <a:rPr spc="-10" dirty="0"/>
              <a:t>Store</a:t>
            </a:r>
            <a:r>
              <a:rPr spc="-55" dirty="0"/>
              <a:t> </a:t>
            </a:r>
            <a:r>
              <a:rPr lang="en-IN" spc="-55" dirty="0"/>
              <a:t>Customer </a:t>
            </a:r>
            <a:r>
              <a:rPr dirty="0"/>
              <a:t>Room</a:t>
            </a:r>
            <a:r>
              <a:rPr lang="en-IN" dirty="0"/>
              <a:t> booked</a:t>
            </a:r>
            <a:r>
              <a:rPr spc="-50" dirty="0"/>
              <a:t> </a:t>
            </a:r>
            <a:r>
              <a:rPr spc="-20" dirty="0"/>
              <a:t>Info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243600" y="307500"/>
            <a:ext cx="4317365" cy="40068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8105" rIns="0" bIns="0" rtlCol="0">
            <a:spAutoFit/>
          </a:bodyPr>
          <a:lstStyle/>
          <a:p>
            <a:pPr marL="1099820">
              <a:lnSpc>
                <a:spcPct val="100000"/>
              </a:lnSpc>
              <a:spcBef>
                <a:spcPts val="615"/>
              </a:spcBef>
            </a:pPr>
            <a:r>
              <a:rPr sz="1400" b="0" spc="-10" dirty="0">
                <a:latin typeface="Roboto"/>
                <a:cs typeface="Roboto"/>
              </a:rPr>
              <a:t>Entity</a:t>
            </a:r>
            <a:r>
              <a:rPr sz="1400" b="0" spc="-40" dirty="0">
                <a:latin typeface="Roboto"/>
                <a:cs typeface="Roboto"/>
              </a:rPr>
              <a:t> </a:t>
            </a:r>
            <a:r>
              <a:rPr sz="1400" b="0" spc="-25" dirty="0">
                <a:latin typeface="Roboto"/>
                <a:cs typeface="Roboto"/>
              </a:rPr>
              <a:t>Relationship</a:t>
            </a:r>
            <a:r>
              <a:rPr sz="1400" b="0" spc="-35" dirty="0">
                <a:latin typeface="Roboto"/>
                <a:cs typeface="Roboto"/>
              </a:rPr>
              <a:t> </a:t>
            </a:r>
            <a:r>
              <a:rPr sz="1400" b="0" spc="-10" dirty="0">
                <a:latin typeface="Roboto"/>
                <a:cs typeface="Roboto"/>
              </a:rPr>
              <a:t>Diagram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841635" y="23445"/>
            <a:ext cx="3269615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150" dirty="0">
                <a:latin typeface="Arial MT"/>
                <a:cs typeface="Arial MT"/>
              </a:rPr>
              <a:t>Hotel</a:t>
            </a:r>
            <a:r>
              <a:rPr sz="1150" spc="120" dirty="0">
                <a:latin typeface="Arial MT"/>
                <a:cs typeface="Arial MT"/>
              </a:rPr>
              <a:t> </a:t>
            </a:r>
            <a:r>
              <a:rPr sz="1150" spc="160" dirty="0">
                <a:latin typeface="Arial MT"/>
                <a:cs typeface="Arial MT"/>
              </a:rPr>
              <a:t>Management</a:t>
            </a:r>
            <a:r>
              <a:rPr sz="1150" spc="275" dirty="0">
                <a:latin typeface="Arial MT"/>
                <a:cs typeface="Arial MT"/>
              </a:rPr>
              <a:t> </a:t>
            </a:r>
            <a:r>
              <a:rPr sz="1150" spc="155" dirty="0">
                <a:latin typeface="Arial MT"/>
                <a:cs typeface="Arial MT"/>
              </a:rPr>
              <a:t>System</a:t>
            </a:r>
            <a:r>
              <a:rPr sz="1150" spc="160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ER</a:t>
            </a:r>
            <a:r>
              <a:rPr sz="1150" spc="110" dirty="0">
                <a:latin typeface="Arial MT"/>
                <a:cs typeface="Arial MT"/>
              </a:rPr>
              <a:t> </a:t>
            </a:r>
            <a:r>
              <a:rPr sz="1150" spc="135" dirty="0">
                <a:latin typeface="Arial MT"/>
                <a:cs typeface="Arial MT"/>
              </a:rPr>
              <a:t>Diagram</a:t>
            </a:r>
            <a:endParaRPr sz="1150">
              <a:latin typeface="Arial MT"/>
              <a:cs typeface="Arial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8B0AF5-6200-06D1-B274-F3B7D301FC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514350"/>
            <a:ext cx="8686800" cy="4629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111624" y="109574"/>
              <a:ext cx="4327525" cy="455930"/>
            </a:xfrm>
            <a:custGeom>
              <a:avLst/>
              <a:gdLst/>
              <a:ahLst/>
              <a:cxnLst/>
              <a:rect l="l" t="t" r="r" b="b"/>
              <a:pathLst>
                <a:path w="4327525" h="455930">
                  <a:moveTo>
                    <a:pt x="4326899" y="455699"/>
                  </a:moveTo>
                  <a:lnTo>
                    <a:pt x="0" y="455699"/>
                  </a:lnTo>
                  <a:lnTo>
                    <a:pt x="0" y="0"/>
                  </a:lnTo>
                  <a:lnTo>
                    <a:pt x="4326899" y="0"/>
                  </a:lnTo>
                  <a:lnTo>
                    <a:pt x="4326899" y="455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60386" y="168883"/>
            <a:ext cx="28270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0" dirty="0">
                <a:solidFill>
                  <a:srgbClr val="2A3890"/>
                </a:solidFill>
                <a:latin typeface="Roboto"/>
                <a:cs typeface="Roboto"/>
              </a:rPr>
              <a:t>Use</a:t>
            </a:r>
            <a:r>
              <a:rPr sz="2700" b="0" spc="-65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700" b="0" dirty="0">
                <a:solidFill>
                  <a:srgbClr val="2A3890"/>
                </a:solidFill>
                <a:latin typeface="Roboto"/>
                <a:cs typeface="Roboto"/>
              </a:rPr>
              <a:t>Case</a:t>
            </a:r>
            <a:r>
              <a:rPr sz="2700" b="0" spc="-65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700" b="0" spc="-25" dirty="0">
                <a:solidFill>
                  <a:srgbClr val="2A3890"/>
                </a:solidFill>
                <a:latin typeface="Roboto"/>
                <a:cs typeface="Roboto"/>
              </a:rPr>
              <a:t>Diagram</a:t>
            </a:r>
            <a:endParaRPr sz="27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9950" y="2144649"/>
            <a:ext cx="1560195" cy="941283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sz="1400" spc="-10" dirty="0">
                <a:latin typeface="Roboto"/>
                <a:cs typeface="Roboto"/>
              </a:rPr>
              <a:t>Actors:</a:t>
            </a:r>
            <a:endParaRPr sz="1400" dirty="0">
              <a:latin typeface="Roboto"/>
              <a:cs typeface="Roboto"/>
            </a:endParaRPr>
          </a:p>
          <a:p>
            <a:pPr marL="542290" indent="-408940">
              <a:lnSpc>
                <a:spcPct val="100000"/>
              </a:lnSpc>
              <a:buFont typeface="MS PGothic"/>
              <a:buChar char="❖"/>
              <a:tabLst>
                <a:tab pos="542290" algn="l"/>
              </a:tabLst>
            </a:pPr>
            <a:r>
              <a:rPr sz="1400" spc="-10" dirty="0">
                <a:latin typeface="Roboto"/>
                <a:cs typeface="Roboto"/>
              </a:rPr>
              <a:t>Customer</a:t>
            </a:r>
            <a:endParaRPr sz="1400" dirty="0">
              <a:latin typeface="Roboto"/>
              <a:cs typeface="Roboto"/>
            </a:endParaRPr>
          </a:p>
          <a:p>
            <a:pPr marL="542290" indent="-408940">
              <a:lnSpc>
                <a:spcPct val="100000"/>
              </a:lnSpc>
              <a:buFont typeface="MS PGothic"/>
              <a:buChar char="❖"/>
              <a:tabLst>
                <a:tab pos="542290" algn="l"/>
              </a:tabLst>
            </a:pPr>
            <a:r>
              <a:rPr lang="en-IN" sz="1400" spc="-10" dirty="0">
                <a:latin typeface="Roboto"/>
                <a:cs typeface="Roboto"/>
              </a:rPr>
              <a:t>Employee</a:t>
            </a:r>
          </a:p>
          <a:p>
            <a:pPr marL="542290" indent="-408940">
              <a:lnSpc>
                <a:spcPct val="100000"/>
              </a:lnSpc>
              <a:buFont typeface="MS PGothic"/>
              <a:buChar char="❖"/>
              <a:tabLst>
                <a:tab pos="542290" algn="l"/>
              </a:tabLst>
            </a:pPr>
            <a:r>
              <a:rPr lang="en-IN" sz="1400" spc="-10" dirty="0">
                <a:latin typeface="Roboto"/>
                <a:cs typeface="Roboto"/>
              </a:rPr>
              <a:t>Manager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19675" y="1126324"/>
            <a:ext cx="2712085" cy="857286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937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Arial MT"/>
                <a:cs typeface="Arial MT"/>
              </a:rPr>
              <a:t>For customer’s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perspective:</a:t>
            </a:r>
            <a:endParaRPr sz="1200" dirty="0">
              <a:latin typeface="Arial MT"/>
              <a:cs typeface="Arial MT"/>
            </a:endParaRPr>
          </a:p>
          <a:p>
            <a:pPr marL="542290" indent="-320040">
              <a:lnSpc>
                <a:spcPct val="100000"/>
              </a:lnSpc>
              <a:spcBef>
                <a:spcPts val="114"/>
              </a:spcBef>
              <a:buFont typeface="Lucida Sans Unicode"/>
              <a:buChar char="□"/>
              <a:tabLst>
                <a:tab pos="542290" algn="l"/>
              </a:tabLst>
            </a:pPr>
            <a:r>
              <a:rPr lang="en-IN" sz="1200" spc="-10" dirty="0">
                <a:latin typeface="Arial MT"/>
                <a:cs typeface="Arial MT"/>
              </a:rPr>
              <a:t>Provide Personal </a:t>
            </a:r>
            <a:r>
              <a:rPr sz="1200" spc="-10" dirty="0">
                <a:latin typeface="Arial MT"/>
                <a:cs typeface="Arial MT"/>
              </a:rPr>
              <a:t>information</a:t>
            </a:r>
            <a:endParaRPr sz="1200" dirty="0">
              <a:latin typeface="Arial MT"/>
              <a:cs typeface="Arial MT"/>
            </a:endParaRPr>
          </a:p>
          <a:p>
            <a:pPr marL="542290" indent="-320040">
              <a:lnSpc>
                <a:spcPct val="100000"/>
              </a:lnSpc>
              <a:spcBef>
                <a:spcPts val="110"/>
              </a:spcBef>
              <a:buFont typeface="Lucida Sans Unicode"/>
              <a:buChar char="□"/>
              <a:tabLst>
                <a:tab pos="542290" algn="l"/>
              </a:tabLst>
            </a:pPr>
            <a:r>
              <a:rPr lang="en-IN" sz="1200" dirty="0">
                <a:latin typeface="Arial MT"/>
                <a:cs typeface="Arial MT"/>
              </a:rPr>
              <a:t>Requirement of Room type</a:t>
            </a:r>
            <a:endParaRPr sz="1200" dirty="0">
              <a:latin typeface="Arial MT"/>
              <a:cs typeface="Arial MT"/>
            </a:endParaRPr>
          </a:p>
          <a:p>
            <a:pPr marL="542290" indent="-320040">
              <a:lnSpc>
                <a:spcPct val="100000"/>
              </a:lnSpc>
              <a:spcBef>
                <a:spcPts val="114"/>
              </a:spcBef>
              <a:buFont typeface="Lucida Sans Unicode"/>
              <a:buChar char="□"/>
              <a:tabLst>
                <a:tab pos="542290" algn="l"/>
              </a:tabLst>
            </a:pPr>
            <a:r>
              <a:rPr lang="en-IN" sz="1200" dirty="0">
                <a:latin typeface="Arial MT"/>
                <a:cs typeface="Arial MT"/>
              </a:rPr>
              <a:t>Requirement of Meal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47920" y="2495839"/>
            <a:ext cx="2783840" cy="1449756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7937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lang="en-IN" sz="1200" spc="-45" dirty="0">
                <a:latin typeface="Arial MT"/>
                <a:cs typeface="Arial MT"/>
              </a:rPr>
              <a:t>Employee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perspective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:</a:t>
            </a:r>
            <a:endParaRPr sz="1200" dirty="0">
              <a:latin typeface="Arial MT"/>
              <a:cs typeface="Arial MT"/>
            </a:endParaRPr>
          </a:p>
          <a:p>
            <a:pPr marL="542290" indent="-320040">
              <a:lnSpc>
                <a:spcPct val="100000"/>
              </a:lnSpc>
              <a:spcBef>
                <a:spcPts val="114"/>
              </a:spcBef>
              <a:buFont typeface="Wingdings" panose="05000000000000000000" pitchFamily="2" charset="2"/>
              <a:buChar char="q"/>
              <a:tabLst>
                <a:tab pos="542290" algn="l"/>
              </a:tabLst>
            </a:pPr>
            <a:r>
              <a:rPr sz="1200" dirty="0">
                <a:latin typeface="Arial MT"/>
                <a:cs typeface="Arial MT"/>
              </a:rPr>
              <a:t>Check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available</a:t>
            </a:r>
            <a:r>
              <a:rPr sz="1200" spc="-20" dirty="0">
                <a:latin typeface="Arial MT"/>
                <a:cs typeface="Arial MT"/>
              </a:rPr>
              <a:t> room</a:t>
            </a:r>
            <a:endParaRPr sz="1200" dirty="0">
              <a:latin typeface="Arial MT"/>
              <a:cs typeface="Arial MT"/>
            </a:endParaRPr>
          </a:p>
          <a:p>
            <a:pPr marL="542290" indent="-320040">
              <a:lnSpc>
                <a:spcPct val="100000"/>
              </a:lnSpc>
              <a:spcBef>
                <a:spcPts val="115"/>
              </a:spcBef>
              <a:buFont typeface="Wingdings" panose="05000000000000000000" pitchFamily="2" charset="2"/>
              <a:buChar char="q"/>
              <a:tabLst>
                <a:tab pos="542290" algn="l"/>
              </a:tabLst>
            </a:pPr>
            <a:r>
              <a:rPr sz="1200" dirty="0">
                <a:latin typeface="Arial MT"/>
                <a:cs typeface="Arial MT"/>
              </a:rPr>
              <a:t>See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lang="en-IN" sz="1200" spc="-10" dirty="0">
                <a:latin typeface="Arial MT"/>
                <a:cs typeface="Arial MT"/>
              </a:rPr>
              <a:t>Customer information</a:t>
            </a:r>
            <a:endParaRPr sz="1200" dirty="0">
              <a:latin typeface="Arial MT"/>
              <a:cs typeface="Arial MT"/>
            </a:endParaRPr>
          </a:p>
          <a:p>
            <a:pPr marL="542290" indent="-320040">
              <a:lnSpc>
                <a:spcPct val="100000"/>
              </a:lnSpc>
              <a:spcBef>
                <a:spcPts val="110"/>
              </a:spcBef>
              <a:buFont typeface="Wingdings" panose="05000000000000000000" pitchFamily="2" charset="2"/>
              <a:buChar char="q"/>
              <a:tabLst>
                <a:tab pos="542290" algn="l"/>
              </a:tabLst>
            </a:pPr>
            <a:r>
              <a:rPr sz="1200" dirty="0">
                <a:latin typeface="Arial MT"/>
                <a:cs typeface="Arial MT"/>
              </a:rPr>
              <a:t>Logs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in</a:t>
            </a:r>
            <a:endParaRPr lang="en-IN" sz="1200" spc="-25" dirty="0">
              <a:latin typeface="Arial MT"/>
              <a:cs typeface="Arial MT"/>
            </a:endParaRPr>
          </a:p>
          <a:p>
            <a:pPr marL="542290" indent="-320040">
              <a:lnSpc>
                <a:spcPct val="100000"/>
              </a:lnSpc>
              <a:spcBef>
                <a:spcPts val="114"/>
              </a:spcBef>
              <a:buFont typeface="Wingdings" panose="05000000000000000000" pitchFamily="2" charset="2"/>
              <a:buChar char="q"/>
              <a:tabLst>
                <a:tab pos="542290" algn="l"/>
              </a:tabLst>
            </a:pPr>
            <a:r>
              <a:rPr lang="en-IN" sz="1200" spc="-25" dirty="0">
                <a:latin typeface="Arial MT"/>
              </a:rPr>
              <a:t>Manage Customer details</a:t>
            </a:r>
          </a:p>
          <a:p>
            <a:pPr marL="542290" indent="-320040">
              <a:lnSpc>
                <a:spcPct val="100000"/>
              </a:lnSpc>
              <a:spcBef>
                <a:spcPts val="114"/>
              </a:spcBef>
              <a:buFont typeface="Wingdings" panose="05000000000000000000" pitchFamily="2" charset="2"/>
              <a:buChar char="q"/>
              <a:tabLst>
                <a:tab pos="542290" algn="l"/>
              </a:tabLst>
            </a:pPr>
            <a:r>
              <a:rPr lang="en-IN" sz="1200" spc="-25" dirty="0">
                <a:latin typeface="Arial MT"/>
              </a:rPr>
              <a:t>Manage Room Book details </a:t>
            </a:r>
            <a:endParaRPr lang="en-IN" sz="1200" dirty="0"/>
          </a:p>
          <a:p>
            <a:pPr marL="542290" indent="-320040">
              <a:lnSpc>
                <a:spcPct val="100000"/>
              </a:lnSpc>
              <a:spcBef>
                <a:spcPts val="114"/>
              </a:spcBef>
              <a:buFont typeface="Lucida Sans Unicode"/>
              <a:buChar char="□"/>
              <a:tabLst>
                <a:tab pos="542290" algn="l"/>
              </a:tabLst>
            </a:pPr>
            <a:endParaRPr sz="1200" dirty="0">
              <a:latin typeface="Arial MT"/>
              <a:cs typeface="Arial M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58DCD7-35E3-4169-93F2-486D800BE1AB}"/>
              </a:ext>
            </a:extLst>
          </p:cNvPr>
          <p:cNvSpPr txBox="1"/>
          <p:nvPr/>
        </p:nvSpPr>
        <p:spPr>
          <a:xfrm>
            <a:off x="6019800" y="2070454"/>
            <a:ext cx="2590800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1200" dirty="0"/>
              <a:t>For Manager’s perspective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IN" sz="1200" dirty="0"/>
              <a:t> Logs in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IN" sz="1200" dirty="0"/>
              <a:t> Manage Room Details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IN" sz="1200" dirty="0"/>
              <a:t>Manage Room book details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IN" sz="1200" dirty="0"/>
              <a:t>Manage Customer Details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IN" sz="1200" dirty="0"/>
              <a:t>See Customer information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IN" sz="1200" dirty="0"/>
              <a:t>Check in available Room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203889" y="103396"/>
            <a:ext cx="288163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95" dirty="0">
                <a:latin typeface="Arial MT"/>
                <a:cs typeface="Arial MT"/>
              </a:rPr>
              <a:t>UCD</a:t>
            </a:r>
            <a:r>
              <a:rPr sz="1150" spc="110" dirty="0">
                <a:latin typeface="Arial MT"/>
                <a:cs typeface="Arial MT"/>
              </a:rPr>
              <a:t> </a:t>
            </a:r>
            <a:r>
              <a:rPr sz="1150" spc="50" dirty="0">
                <a:latin typeface="Arial MT"/>
                <a:cs typeface="Arial MT"/>
              </a:rPr>
              <a:t>of</a:t>
            </a:r>
            <a:r>
              <a:rPr sz="1150" spc="325" dirty="0">
                <a:latin typeface="Arial MT"/>
                <a:cs typeface="Arial MT"/>
              </a:rPr>
              <a:t> </a:t>
            </a:r>
            <a:r>
              <a:rPr sz="1150" spc="150" dirty="0">
                <a:latin typeface="Arial MT"/>
                <a:cs typeface="Arial MT"/>
              </a:rPr>
              <a:t>Hotel</a:t>
            </a:r>
            <a:r>
              <a:rPr sz="1150" spc="90" dirty="0">
                <a:latin typeface="Arial MT"/>
                <a:cs typeface="Arial MT"/>
              </a:rPr>
              <a:t> </a:t>
            </a:r>
            <a:r>
              <a:rPr sz="1150" spc="160" dirty="0">
                <a:latin typeface="Arial MT"/>
                <a:cs typeface="Arial MT"/>
              </a:rPr>
              <a:t>Management</a:t>
            </a:r>
            <a:r>
              <a:rPr sz="1150" spc="200" dirty="0">
                <a:latin typeface="Arial MT"/>
                <a:cs typeface="Arial MT"/>
              </a:rPr>
              <a:t> </a:t>
            </a:r>
            <a:r>
              <a:rPr sz="1150" spc="145" dirty="0">
                <a:latin typeface="Arial MT"/>
                <a:cs typeface="Arial MT"/>
              </a:rPr>
              <a:t>System</a:t>
            </a:r>
            <a:endParaRPr sz="1150">
              <a:latin typeface="Arial MT"/>
              <a:cs typeface="Arial M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ECCBEA-CAC5-FF94-255C-C1BDE39DFA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2" t="27778" r="18576"/>
          <a:stretch>
            <a:fillRect/>
          </a:stretch>
        </p:blipFill>
        <p:spPr>
          <a:xfrm>
            <a:off x="1676400" y="714374"/>
            <a:ext cx="5840046" cy="4067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6125" y="167633"/>
            <a:ext cx="204597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0" dirty="0">
                <a:solidFill>
                  <a:srgbClr val="2A3890"/>
                </a:solidFill>
                <a:latin typeface="Roboto"/>
                <a:cs typeface="Roboto"/>
              </a:rPr>
              <a:t>GANTT</a:t>
            </a:r>
            <a:r>
              <a:rPr sz="2700" b="0" spc="-70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700" b="0" spc="-10" dirty="0">
                <a:solidFill>
                  <a:srgbClr val="2A3890"/>
                </a:solidFill>
                <a:latin typeface="Roboto"/>
                <a:cs typeface="Roboto"/>
              </a:rPr>
              <a:t>Chart</a:t>
            </a:r>
            <a:endParaRPr sz="2700">
              <a:latin typeface="Roboto"/>
              <a:cs typeface="Robot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15FF5E-2823-E605-7544-37BA33E96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9" r="7753" b="8519"/>
          <a:stretch>
            <a:fillRect/>
          </a:stretch>
        </p:blipFill>
        <p:spPr>
          <a:xfrm>
            <a:off x="3048000" y="630275"/>
            <a:ext cx="2662145" cy="45377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58943E-CED3-0B86-010D-E9A7375C3BBB}"/>
              </a:ext>
            </a:extLst>
          </p:cNvPr>
          <p:cNvSpPr txBox="1"/>
          <p:nvPr/>
        </p:nvSpPr>
        <p:spPr>
          <a:xfrm>
            <a:off x="381000" y="285750"/>
            <a:ext cx="3733800" cy="243143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0"/>
                  <a:lumOff val="100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7030A0"/>
                </a:solidFill>
              </a:rPr>
              <a:t>Tool Use:</a:t>
            </a:r>
          </a:p>
          <a:p>
            <a:r>
              <a:rPr lang="en-IN" sz="2800" dirty="0">
                <a:solidFill>
                  <a:srgbClr val="0070C0"/>
                </a:solidFill>
              </a:rPr>
              <a:t>1.VS Code</a:t>
            </a:r>
          </a:p>
          <a:p>
            <a:r>
              <a:rPr lang="en-IN" sz="2800" dirty="0">
                <a:solidFill>
                  <a:srgbClr val="0070C0"/>
                </a:solidFill>
              </a:rPr>
              <a:t>2.My SQL Workbench</a:t>
            </a:r>
          </a:p>
          <a:p>
            <a:r>
              <a:rPr lang="en-IN" sz="2800" dirty="0">
                <a:solidFill>
                  <a:srgbClr val="0070C0"/>
                </a:solidFill>
              </a:rPr>
              <a:t>3.Edrawmax</a:t>
            </a:r>
          </a:p>
          <a:p>
            <a:r>
              <a:rPr lang="en-IN" sz="2800" dirty="0">
                <a:solidFill>
                  <a:srgbClr val="0070C0"/>
                </a:solidFill>
              </a:rPr>
              <a:t>4.Powerpoint</a:t>
            </a:r>
            <a:endParaRPr lang="en-IN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020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3BADBE-3B3C-587A-E687-DF35A20DE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7650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837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8ECACA-C26B-700C-BE89-B926447F6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49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60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9FC440-CDDC-4BF8-656C-F9C09C7F4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36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51DECA-BFA8-B2D3-4300-793675270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220"/>
            <a:ext cx="9144000" cy="475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401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E1F4C0-61C4-7602-CAF7-320BEE8E0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496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820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CF2850-390C-914A-D9AA-F651922E7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3772"/>
            <a:ext cx="9144000" cy="491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109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560</TotalTime>
  <Words>503</Words>
  <Application>Microsoft Office PowerPoint</Application>
  <PresentationFormat>On-screen Show (16:9)</PresentationFormat>
  <Paragraphs>130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MS PGothic</vt:lpstr>
      <vt:lpstr>Arial MT</vt:lpstr>
      <vt:lpstr>Calibri</vt:lpstr>
      <vt:lpstr>Lucida Sans Unicode</vt:lpstr>
      <vt:lpstr>Roboto</vt:lpstr>
      <vt:lpstr>Roboto Lt</vt:lpstr>
      <vt:lpstr>Wingdings</vt:lpstr>
      <vt:lpstr>Office Theme</vt:lpstr>
      <vt:lpstr>PowerPoint Presentation</vt:lpstr>
      <vt:lpstr>PowerPoint Presentation</vt:lpstr>
      <vt:lpstr>PowerPoint Presentation</vt:lpstr>
      <vt:lpstr>Objectives Of The Project</vt:lpstr>
      <vt:lpstr>Feasibility Analysis</vt:lpstr>
      <vt:lpstr>Functionality Of Users</vt:lpstr>
      <vt:lpstr>Non Functional Requirements</vt:lpstr>
      <vt:lpstr>Overall Constraints</vt:lpstr>
      <vt:lpstr>PowerPoint Presentation</vt:lpstr>
      <vt:lpstr>Entity Relationship Diagram</vt:lpstr>
      <vt:lpstr>PowerPoint Presentation</vt:lpstr>
      <vt:lpstr>Use Case Diagram</vt:lpstr>
      <vt:lpstr>PowerPoint Presentation</vt:lpstr>
      <vt:lpstr>GANTT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Management System Presentation</dc:title>
  <dc:creator>Soumen Pradhan</dc:creator>
  <cp:lastModifiedBy>Soumen Pradhan</cp:lastModifiedBy>
  <cp:revision>12</cp:revision>
  <dcterms:created xsi:type="dcterms:W3CDTF">2025-06-23T11:48:25Z</dcterms:created>
  <dcterms:modified xsi:type="dcterms:W3CDTF">2025-07-02T04:40:01Z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2025-06-23T00:00:00Z</vt:filetime>
  </property>
  <property fmtid="{D5CDD505-2E9C-101B-9397-08002B2CF9AE}" pid="3" name="Creator">
    <vt:lpwstr>Google</vt:lpwstr>
  </property>
  <property fmtid="{D5CDD505-2E9C-101B-9397-08002B2CF9AE}" pid="4" name="LastSaved">
    <vt:filetime>2025-06-23T00:00:00Z</vt:filetime>
  </property>
</Properties>
</file>